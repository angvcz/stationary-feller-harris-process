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Modelo SF-Harris: de la cadena de Harris a dos ingredientes</a:t>
            </a:r>
          </a:p>
          <a:p>
            <a:r>
              <a:rPr sz="2200">
                <a:solidFill>
                  <a:srgbClr val="C3C2B7"/>
                </a:solidFill>
                <a:latin typeface="Calibri"/>
              </a:rPr>
              <a:t>Construir el modelo → reducirlo → probarlo → justificar la reducción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E87BA4"/>
                </a:solidFill>
                <a:latin typeface="Calibri"/>
              </a:rPr>
              <a:t>Replicación y extensión de Anzarut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578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Ángel Vences Adame</a:t>
            </a:r>
          </a:p>
          <a:p>
            <a:r>
              <a:rPr sz="1400">
                <a:solidFill>
                  <a:srgbClr val="C3C2B7"/>
                </a:solidFill>
                <a:latin typeface="Calibri"/>
              </a:rPr>
              <a:t>Licenciatura en Actuaría  ·  IIMAS — UNAM  ·  Servicio Social</a:t>
            </a:r>
          </a:p>
          <a:p>
            <a:r>
              <a:rPr sz="1400">
                <a:solidFill>
                  <a:srgbClr val="C3C2B7"/>
                </a:solidFill>
                <a:latin typeface="Calibri"/>
              </a:rPr>
              <a:t>Asesor: ____________     ·   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La pregunta científica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¿Son necesarios los 3 ingredientes o existe un modelo más simple?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Anzarut (2023) predice volatilidad intradía con un modelo de 3 piezas y reporta cobertura con AAD = 0.8 pp sobre IBM a 15 min.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52514E"/>
                </a:solidFill>
                <a:latin typeface="Calibri"/>
              </a:rPr>
              <a:t>• Las 3 piezas del modelo SF-Harris: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Cadena de Harris — estado latente con persistencia P(stay) = e^{-α} (masa puntual) y saltos desde Q.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Q invariante — distribución marginal de la volatilidad (GIG en Anzarut).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Gibbs sampler — inferencia bayesiana y denoising de τ* (varianza latente).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Pregunta central — descompuesta en tres sub-preguntas anclables a evidencia: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(i) ¿cadena o iid? — ¿la dinámica temporal aporta, o basta la marginal?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(ii) ¿GIG o empírica? — ¿qué forma de Q da mejor cobertura dentro del rango observado?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(iii) ¿P(stay) informativo o andamiaje? — ¿su valor concreto mueve la cobertura, o sólo deja correr el Gibbs?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Fundamento: del kernel de Markov al SSM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Punto de partida: un kernel de Markov sobre un estado latente (volatilidad). El estado evoluciona y emite observaciones ruidosas.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Esto es un modelo de espacio de estados (SSM): transición latente xₜ = log τₜ  +  emisión rₜ | τₜ.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• Las observaciones rₜ NO son markovianas por sí solas: la dependencia temporal vive en el estado latente.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Consecuencia: no se puede estimar la volatilidad de hoy con un promedio simple de rₜ² — hay que filtrar/inferir el estado.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4A3AA7"/>
                </a:solidFill>
                <a:latin typeface="Calibri"/>
              </a:rPr>
              <a:t>• Tres niveles de inferencia en un SSM (este orden es clave para lo que sigue):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Filtrado — p(xₜ | r₁:ₜ), el estado hoy dado todo lo observado hasta hoy.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Suavizado — p(xₜ | r₁:T), el estado dados TODOS los datos (pasado y futuro).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Estimación de parámetros — p(θ | r₁:T) con θ = (α, μ, σ²); promedio posterior sobre el ruido de observación.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A3AA7"/>
                </a:solidFill>
                <a:latin typeface="Calibri"/>
              </a:rPr>
              <a:t>• Aquí el objetivo es el NIVEL 3 (parámetros), no el suavido del estado. Eso decide el método de inferencia (siguiente slide).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¿Por qué Gibbs y no Kalman o partículas?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El objetivo (parámetros) + la estructura del modelo descartan las alternativas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Kalman: lineal-gaussiano. Aquí la transición (masa puntual + saltos GIG) y la emisión (varianza en el denominador) son no lineales y no gaussianas → Kalman destruye la bimodalidad de la posterior (veremos 16 pp).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Particle filter: aproxima la posterior con pesos. Pero el GIG es casi-no-identificable → los pesos degeneran (ESS → 1) en pocas iteraciones.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A3AA7"/>
                </a:solidFill>
                <a:latin typeface="Calibri"/>
              </a:rPr>
              <a:t>• Gibbs: hay conjugación (α y (μ,σ²) tienen priors conjugados) y el objetivo es la posterior sobre parámetros → el promedio posterior resuelve la casi-no-identificabilidad del GIG sin pesos que degeneran.</a:t>
            </a:r>
          </a:p>
        </p:txBody>
      </p:sp>
      <p:pic>
        <p:nvPicPr>
          <p:cNvPr id="7" name="Picture 6" descr="kalman_vs_gibb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16744"/>
            <a:ext cx="5852160" cy="4373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6281927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Kalman 16 pp vs Gibbs 0.2 pp (previsualización del resultado)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• La elección de Gibbs no es un gusto: la siguen el objetivo (parámetros, nivel 3) y la conjugación.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Ingrediente 1 — Cadena de Harris (estado latente)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Estado latente xₜ = log τₜ (log-varianza). La cadena salta entre valores: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stay: copia xₜ₋₁,  con probabilidad P(stay) = e^{-α}  (masa puntual en el propio estado).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jump: dibuja un nuevo valor de Q,  con probabilidad 1 − e^{-α}.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α es la persistencia temporal: α grande → P(stay) pequeña → muchos saltos → poca memoria.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Anclaje observable de α: la cadena es una cadena de Markov con ACF teórica ρ(h) = e^{-α h}.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→ se estima α de los datos sin resolver la cadena: α = −log(ρ₁), donde ρ₁ es la primera autocorrelación de log τ (estimada con varianza realizada).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Esto desacopla la estimación de α de la inferencia de los estados: α entra al Gibbs como dato, no como incógnita.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Ingrediente 2 — Q invariante (distribución marginal)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Q es la distribución invariante de la cadena: la marginal estacionaria de la volatilidad.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Tres candidatas: Discreta (soporte finito)  ·  GIG (Anzarut, paramétrica)  ·  Empírica (resamplear datos).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B6834"/>
                </a:solidFill>
                <a:latin typeface="Calibri"/>
              </a:rPr>
              <a:t>• Propiedad clave: la marginal = Q POR DISEÑO del kernel, no por un teorema derivado. El kernel está construido para que Q sea invariante.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Q empírica ≈ Historical Simulation: la cobertura hereda la forma exacta de la marginal observada.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34948"/>
                </a:solidFill>
                <a:latin typeface="Calibri"/>
              </a:rPr>
              <a:t>• Precisión importante (evita un error frecuente):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E34948"/>
                </a:solidFill>
                <a:latin typeface="Calibri"/>
              </a:rPr>
              <a:t>– La Q empírica se construye con varianza realizada (RV), NO con rₜ².  Empirical(RV) ≠ Empirical(rₜ²).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A diario rₜ² es un estimador ruidoso de la varianza (σ(log RV) ≈ 2.27); por eso la frecuencia importa (Test 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Ingrediente 3 — Gibbs sampler (inferencia)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52514E"/>
                </a:solidFill>
                <a:latin typeface="Calibri"/>
              </a:rPr>
              <a:t>• El Gibbs hace dos cosas a la vez: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Denoising de τ* (varianza latente): reconstruye la varianza “verdadera” promediando el ruido de observación de rₜ².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Estimación de parámetros (α, μ, σ²): posterior sobre θ, no suavido de estados.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Conjugación que lo hace cerrado por bloques: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α  y  (μ, σ²) tienen priors conjugados → muestreo directo, sin pasos de Metropolis.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– Nota honesta: el código usa una Gamma (aproximación conjugada), no el Beta exacto para α; documentado como caveat.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87BA4"/>
                </a:solidFill>
                <a:latin typeface="Calibri"/>
              </a:rPr>
              <a:t>• Resuelve la casi-no-identificabilidad del GIG: el promedio posterior estabiliza los parámetros que un particle filter no podría estimar (ESS → 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Emisión — la observación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8300"/>
                </a:solidFill>
                <a:latin typeface="Calibri"/>
              </a:rPr>
              <a:t>• rₜ | τₜ  ~  N(0, τₜ): el retorno es gaussiano condicional a la varianza de hoy.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Condicionalmente gaussiana: la no normalidad marginal de los rendimientos viene de la mezcla sobre τ, no de colas gaussianas pesadas.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Sólo usa τₜ actual: el retorno de hoy depende sólo de la varianza de hoy, no del historial (la memoria está en la cadena, no en la emisión).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• Consecuencia para la predicción: el predictivo a un paso es una mezcla de N(0, τ) ponderada por la posterior de τ. La cobertura es una propiedad de esa mezcla.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El modelo completo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3 ingredientes + emisión, en un mapa 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8</a:t>
            </a:r>
          </a:p>
        </p:txBody>
      </p:sp>
      <p:pic>
        <p:nvPicPr>
          <p:cNvPr id="6" name="Picture 5" descr="mapa_me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Pipeline de inferencia y replicación (Tabla 3)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datos → dollar bars → saltos/periodicidad → α(ACF) → Gibbs →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931920"/>
                <a:gridCol w="173736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Etapa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Salida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1. Datos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precios → dollar bars (volumen constante, no tiempo)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retornos rₜ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2. Limpieza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detect_and_remove_jumps + estimate_periodicity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serie sin saltos/estacionalidad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3. α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α = −log(ρ₁) de la ACF de log RV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persistencia temporal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4. Gibbs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denoising de τ* + posterior de (μ,σ²)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posterior de τ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5. Predictivo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mezcla N(0,τ) sobre la posterior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  <a:latin typeface="Calibri"/>
                        </a:rPr>
                        <a:t>intervalo de cobertura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52514E"/>
                </a:solidFill>
                <a:latin typeface="Calibri"/>
              </a:rPr>
              <a:t>• Replicación (Tabla 3, IBM 15 min, dollar bars):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008300"/>
                </a:solidFill>
                <a:latin typeface="Calibri"/>
              </a:rPr>
              <a:t>– este trabajo AAD 0.3 pp  ·  Anzarut 0.8 pp  ·  GARCH 3.4 pp.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BAF7A"/>
                </a:solidFill>
                <a:latin typeface="Calibri"/>
              </a:rPr>
              <a:t>• Libre de fuga: saltos + periodicidad ajustados solo sobre train, aplicados al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Estudio de simulación (Tablas II/III)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validación interna del Gibbs sobre Q continua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011680"/>
                <a:gridCol w="5029200"/>
              </a:tblGrid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Método (Q continua)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E_α relativo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Comentario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NDNJ / MLE / EM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≈ 1.0×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coinciden: factorización analítica de la verosimilitud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Gibbs (denoising de τ*)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≈ 0.5×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el promedio posterior reduce el error de α a la mitad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42900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Con Q continua los tres estimadores (NDNJ, MLE, EM) coinciden: la verosimilitud se factoriza y no hay casi-no-identificabilidad.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A3AA7"/>
                </a:solidFill>
                <a:latin typeface="Calibri"/>
              </a:rPr>
              <a:t>• El Gibbs-a (denoising) reduce el error de estimación de α a la mitad: el denoising no sólo limpia estados, mejora la estimación de parámetros.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03B3B"/>
                </a:solidFill>
                <a:latin typeface="Calibri"/>
              </a:rPr>
              <a:t>• Caveat de reproducibilidad: el “cap” de α difiere entre corridas (cap=10 vs cap=50) y no es reproducible — pendiente de fijar (slide 28).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La tesis y el orden de reducción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se reduce en 3 pasos, cada uno aislado por una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BAF7A"/>
                </a:solidFill>
                <a:latin typeface="Calibri"/>
              </a:rPr>
              <a:t>• Tesis: la dinámica temporal (P(stay)) es decorativa para cobertura → el modelo se reduce a 2 ingredientes.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52514E"/>
                </a:solidFill>
                <a:latin typeface="Calibri"/>
              </a:rPr>
              <a:t>• Orden de reducción (cada paso responde a una sub-pregunta):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A78D6"/>
                </a:solidFill>
                <a:latin typeface="Calibri"/>
              </a:rPr>
              <a:t>– ① Quitar la dinámica de Harris  —  ¿cadena o iid?  (Tests 1, 2, 10).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EB6834"/>
                </a:solidFill>
                <a:latin typeface="Calibri"/>
              </a:rPr>
              <a:t>– ② Quitar los saltos continuos (GIG → discreta)  —  ¿la forma continua aporta?  (Test 6).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1BAF7A"/>
                </a:solidFill>
                <a:latin typeface="Calibri"/>
              </a:rPr>
              <a:t>– ③ Quitar la Q paramétrica (GIG → empírica)  —  ¿GIG o empírica?  (replicación, Test 1).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08300"/>
                </a:solidFill>
                <a:latin typeface="Calibri"/>
              </a:rPr>
              <a:t>• Quedan 2 ingredientes:  Q empírica  +  denoising Gibbs  (estimación de μ,σ, NO suavizado de estados).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El orden importa: se quita primero lo que es estructuralmente innecesario (dinámica, level-set), y al final lo que sólo gana en colas (GIG).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La razón estructural (antes de las pruebas)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por qué P(stay) no puede mover la cobertura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BAF7A"/>
                </a:solidFill>
                <a:latin typeface="Calibri"/>
              </a:rPr>
              <a:t>• La cobertura es una propiedad MARGINAL del predictivo: depende de la distribución de τ, no de su orden temporal.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P(stay) gobierna lo CONJUNTO (la dependencia temporal, la trayectoria), no la marginal.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• Bajo estacionariedad con Q fija, la marginal = Q = empírica, independiente de P(stay).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P(stay) sólo reorganiza el ORDEN temporal de los valores (cuánto tiempo se queda uno), no su distribución.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AF7A"/>
                </a:solidFill>
                <a:latin typeface="Calibri"/>
              </a:rPr>
              <a:t>• → “decorativa” se refiere a la dinámica temporal P(stay), NO a toda la cadena (el Gibbs no es decorativo: es uno de los 2 ingredientes).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Es un argumento estructural, no un hallazgo empírico: las pruebas (Bloque II/III) lo confirman, no lo fundamentan.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Reducción ① — quitar la dinámica de Harris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Test 1: descomposición de cobertura (IBM 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13</a:t>
            </a:r>
          </a:p>
        </p:txBody>
      </p:sp>
      <p:pic>
        <p:nvPicPr>
          <p:cNvPr id="6" name="Picture 5" descr="coverage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7330"/>
            <a:ext cx="7040880" cy="43234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36208"/>
            <a:ext cx="7040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9.4 → 2.0 → 2.0 → 2.0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• El salto 9.4 → 2.0 pp (−7.4) viene TODO de τ*: adaptar la varianza (saber si hoy es alta o baja).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AF7A"/>
                </a:solidFill>
                <a:latin typeface="Calibri"/>
              </a:rPr>
              <a:t>• La forma empírica de Q suma 0.0 pp. La dinámica de Harris suma 0.0 pp.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• → La dinámica temporal no aporta a la cobertura más allá de la marginal.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03B3B"/>
                </a:solidFill>
                <a:latin typeface="Calibri"/>
              </a:rPr>
              <a:t>• Caveat: aad5 = aad1 (el modelo completo iguala al sin-Harris) es parcialmente circular — ambas usan el mismo Gibbs. Por eso se corroborra con Tests 2 y 10.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Reducción ① — más evidencia (Tests 2 y 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14</a:t>
            </a:r>
          </a:p>
        </p:txBody>
      </p:sp>
      <p:pic>
        <p:nvPicPr>
          <p:cNvPr id="6" name="Picture 5" descr="gibbs_psta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49703"/>
            <a:ext cx="6035040" cy="2609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5001768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Sweep de P(stay) con Gibbs: AAD ≈ plano (0.41–0.54 pp)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103120"/>
                <a:gridCol w="128016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Prueba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Qué barre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Test 2 (ε-calib.)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ε en 8 órdenes → P(stay) 0.37–0.98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AAD plano en 0.3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Test 10 (con Gibbs)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P(stay) 0.0–0.95 con denoising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AAD plano 0.41–0.54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38328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Dos barridos independientes (ε y P(stay) directo) coinciden: la cobertura es plana en P(stay) cuando hay denoising.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BAF7A"/>
                </a:solidFill>
                <a:latin typeface="Calibri"/>
              </a:rPr>
              <a:t>• → Sostiene la reducción ①: la dinámica es decorativa CON denoising.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D03B3B"/>
                </a:solidFill>
                <a:latin typeface="Calibri"/>
              </a:rPr>
              <a:t>• Caveat: el sweep plano 0.4 pp es del régimen SIN ruido de observación; el Gibbs real (con ruido) da ~18 pp planos de margen. Cuantitativamente distinto, misma conclusión cualitativa.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Reducción ② — saltos continuos → discreta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Finding 2 + Test 6 (mezcla doble-exponencial)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La Q continua (GIG) es una mezcla continua de saltos; la Q discreta es un soporte finito. ¿gana algo la continuidad?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B6834"/>
                </a:solidFill>
                <a:latin typeface="Calibri"/>
              </a:rPr>
              <a:t>• Finding 2: los saltos continuos no aportan a la cobertura. Test 6 (mezcla doble-exponencial en lugar de GIG) añade 0.0 pp.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Interpretación: la cobertura depende de la FORMA de la marginal (colas), no de si el soporte es continuo o discreto. Dentro del rango observado, una discreta fina la reproduce igual.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B6834"/>
                </a:solidFill>
                <a:latin typeface="Calibri"/>
              </a:rPr>
              <a:t>• → Se puede reducir GIG → discreta sin pérdida de cobertura (en el rango observado).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03B3B"/>
                </a:solidFill>
                <a:latin typeface="Calibri"/>
              </a:rPr>
              <a:t>• Caveat de honestidad: esto es cierto POR CONSTRUCCIÓN de la descomposición (la discreta calza la empírica por diseño) y no es falsificable con este test. Es una consistencia, no una refutación independiente.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Reducción ③ — Q paramétrica → empírica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Finding 1: qué forma de Q da mejor cobertura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6766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  <a:gridCol w="24688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AAD (15 min)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Comentario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Empírica (resamplear RV)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0.2–0.3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captura la forma exacta de la marginal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Student-t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0.4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colas pesadas paramétricas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Gaussiana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0.5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colas demasiado ligeras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GIG (Anzarut)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0.8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subestima colas (kurtosis)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4173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AF7A"/>
                </a:solidFill>
                <a:latin typeface="Calibri"/>
              </a:rPr>
              <a:t>• Finding 1: la Q empírica supera a todas las paramétricas dentro del rango observado — hereda la forma exacta de la marginal.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AF7A"/>
                </a:solidFill>
                <a:latin typeface="Calibri"/>
              </a:rPr>
              <a:t>• → Se puede reducir GIG → empírica para cobertura.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• La GIG NO se tira: gana en extrapolación de colas (P99.9+), donde la empírica no puede ir. Único caso donde Q paramétrica vence.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• Precisión: el 26 pp del estimador simple (N(0,σ̂²) sin denoising) es otro eje — sin denoising, incluso la empírica se desmorona (slide 18).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Lo que NO se reduce — el Gibbs es esencial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sin denoising, P(stay) sí importa (y destruye)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17</a:t>
            </a:r>
          </a:p>
        </p:txBody>
      </p:sp>
      <p:pic>
        <p:nvPicPr>
          <p:cNvPr id="6" name="Picture 5" descr="simple_estimator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5877"/>
            <a:ext cx="5852160" cy="2531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30368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Estimadores simples ≈ 26 pp vs Gibbs 0.2 pp</a:t>
            </a:r>
          </a:p>
        </p:txBody>
      </p:sp>
      <p:pic>
        <p:nvPicPr>
          <p:cNvPr id="8" name="Picture 7" descr="pstay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391408"/>
            <a:ext cx="5486400" cy="1800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23036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Test 9: P(stay) monótonamente destructiva sin denoising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34948"/>
                </a:solidFill>
                <a:latin typeface="Calibri"/>
              </a:rPr>
              <a:t>• Test 8 (coin-flip): sin denoising, a P(stay)=0.88 el AAD se va a 50 pp — el modelo se vuelve inútil.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E87BA4"/>
                </a:solidFill>
                <a:latin typeface="Calibri"/>
              </a:rPr>
              <a:t>• Estimadores simples (sin Gibbs): ~26 pp. Con Gibbs: 0.2 pp. El denoising es el ingrediente activo.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BAF7A"/>
                </a:solidFill>
                <a:latin typeface="Calibri"/>
              </a:rPr>
              <a:t>• → La reducción quita la dinámica, NO el Gibbs. El Gibbs es uno de los 2 ingredientes que sobreviven.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El modelo mínimo + por qué fallan las alternativas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8300"/>
                </a:solidFill>
                <a:latin typeface="Calibri"/>
              </a:rPr>
              <a:t>• Modelo mínimo (2 ingredientes):</a:t>
            </a:r>
          </a:p>
          <a:p>
            <a:pPr lvl="1"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– τ ~ Empírica(RV)  +  r | τ ~ N(0, τ)  con denoising Gibbs de τ* (estimación de μ,σ, NO suavizado de estados).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– Receta en 3 pasos: (1) resamplear RV para Q empírica; (2) Gibbs para la posterior de τ*; (3) mezcla N(0,τ) para el predictivo.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34948"/>
                </a:solidFill>
                <a:latin typeface="Calibri"/>
              </a:rPr>
              <a:t>• ¿Por qué falla Kalman (16 pp)? Es lineal-gaussiano → colapsa la bimodalidad de la posterior de τ. No puede representar “volatilidad alta hoy sí, hoy no”.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34948"/>
                </a:solidFill>
                <a:latin typeface="Calibri"/>
              </a:rPr>
              <a:t>• ¿Por qué fallan los estimadores simples (26 pp)? Promedian el ruido de observación en lugar de separarlo del estado. Sin denoising no hay cobertura.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¿Por qué gana la empírica sobre la GIG (0.2 vs 0.8 pp)? La GIG subestima la kurtosis; la empírica la hereda de los datos. Salvo en colas extremas.</a:t>
            </a:r>
          </a:p>
        </p:txBody>
      </p:sp>
      <p:pic>
        <p:nvPicPr>
          <p:cNvPr id="7" name="Picture 6" descr="kalman_vs_gibb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90565"/>
            <a:ext cx="5486400" cy="40998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637336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Kalman 16 pp (destruye bimodalidad) vs Gibbs 0.2 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Las 11 pruebas de ablación (mapa)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cada prueba aísla un componente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834640"/>
                <a:gridCol w="2377440"/>
                <a:gridCol w="548640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Prueba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Aísla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Descomposición de cobertura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τ* vs Q vs Harris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7.4 pp de τ*, 0.0 pp de Harris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Calibración de ε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P(stay) vía ε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AAD plano 0.3 pp (P 0.37–0.98)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Frecuencia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15 min / 1 h / diario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degrada con σ(logRV), no P(stay)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Activos mexicanos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generalización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diario Hist.Sim 8/8; 1 h SF 5/8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Detección de crisis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señal direccional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AUC 0.42 (anti-predictivo, v1)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Mezcla doble-exp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saltos continuos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+0.0 pp (por construcción)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Stay / jump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señal direccional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AUC 0.51 (azar)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Coin-flip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denoising off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50 pp a P(stay)=0.88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Sweep sin Gibbs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P(stay) sin denoising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destructiva: 0.42→50→66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Sweep con Gibbs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P(stay) con denoising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plano 0.41–0.54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Kalman vs Gibbs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suavizado lineal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  <a:latin typeface="Calibri"/>
                        </a:rPr>
                        <a:t>16 pp (destruye bimodalidad)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Prueba 3 — la frecuencia: el ruido del RV, no P(stay)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828800"/>
                <a:gridCol w="1554480"/>
                <a:gridCol w="2103120"/>
                <a:gridCol w="201168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Frecuencia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obs/día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σ(log RV)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P(stay)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SF-Harris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Hist. Sim.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15-min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1.04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0.2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2.0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1-h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~0.55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10.3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1.8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diario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2.27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0.37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2.5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2.0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El AAD sigue al ruido del estimador de RV (σ), no a P(stay): a 15 min, 26 obs/día → RV bien estimada → σ baja → buen desempeño.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A diario, rₜ² es un estimador pésimo de la varianza (σ = 2.27): el Gibbs infla su distribución de saltos.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Historical Simulation no necesita estimar RV y elude el problema → gana a diario.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D03B3B"/>
                </a:solidFill>
                <a:latin typeface="Calibri"/>
              </a:rPr>
              <a:t>• Caveat (provisional): Test 3 conserva la fuga train/test → AADs absolutos provisionales; el signo (AAD sigue a σ, no a P(stay)) es robusto. Ver slide 28.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Pruebas 5 y 7 — no predice dirección ni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1554480"/>
                <a:gridCol w="448056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Señal</a:t>
                      </a:r>
                    </a:p>
                  </a:txBody>
                  <a:tcPr marL="73152" marR="54864" marT="27432" marB="27432" anchor="ctr">
                    <a:solidFill>
                      <a:srgbClr val="E349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54864" marT="27432" marB="27432" anchor="ctr">
                    <a:solidFill>
                      <a:srgbClr val="E349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Interpretación</a:t>
                      </a:r>
                    </a:p>
                  </a:txBody>
                  <a:tcPr marL="73152" marR="54864" marT="27432" marB="27432" anchor="ctr">
                    <a:solidFill>
                      <a:srgbClr val="E3494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Detección de crisis (PIT del modelo, v1)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anti-predictivo (&lt; 0.5)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VIX para detección de crisis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referencia fuerte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Predicción stay/jump (ratio τ*)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indistinguible de azar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P(jump) a diario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0.63 (constante)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prob. incondicional, no señal temporal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El modelo está MENOS sorprendido antes de las crisis que en promedio; P(jump) es una constante, no un pico antes de cambios de régimen.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E34948"/>
                </a:solidFill>
                <a:latin typeface="Calibri"/>
              </a:rPr>
              <a:t>• → SF-Harris no es señal de trading ni detector de crisis. Su valor es la cobertura, no la dirección.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03B3B"/>
                </a:solidFill>
                <a:latin typeface="Calibri"/>
              </a:rPr>
              <a:t>• Caveat: el AUC 0.42 es del modelo CONGELADO v1 (PIT 0.36 → descalibrado). La versión correcta es v2 rolling (1-paso); el resultado direccional negativo se mantiene, pero el número 0.42 no es el definitivo.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Prueba 9 — sweep de P(stay) SIN Gibbs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sin denoising, P(stay) es monótonamente destructiva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22</a:t>
            </a:r>
          </a:p>
        </p:txBody>
      </p:sp>
      <p:pic>
        <p:nvPicPr>
          <p:cNvPr id="6" name="Picture 5" descr="psta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199108"/>
            <a:ext cx="7772400" cy="25512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5596127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AAD 0.42 → 50 → 66 pp al subir P(stay) sin denoising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E34948"/>
                </a:solidFill>
                <a:latin typeface="Calibri"/>
              </a:rPr>
              <a:t>• Sin denoising, cuanto más persistente la cadena (más P(stay)), peor la cobertura: 0.42 → 50 → 66 pp.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AF7A"/>
                </a:solidFill>
                <a:latin typeface="Calibri"/>
              </a:rPr>
              <a:t>• Esto confirma que P(stay) SÍ importa… sólo cuando falta el Gibbs. Con denoising (Test 10) la curva se aplana.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E87BA4"/>
                </a:solidFill>
                <a:latin typeface="Calibri"/>
              </a:rPr>
              <a:t>• → El Gibbs es el ingrediente que vuelve decorativa a P(stay). Quitar el Gibbs es lo que no se puede hacer.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Síntesis — 3 hallazgos → 2 ingredientes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937760"/>
                <a:gridCol w="2743200"/>
                <a:gridCol w="24688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Qué dice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Prueba(s)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Q empírica &gt; Q paramétrica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replicación, Test 1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0.2–0.3 vs 0.8 (GIG)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Saltos continuos no aportan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Test 6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+0.0 pp (mezcla doble-exp)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Dinámica P(stay) decorativa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Tests 1, 2, 9, 10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0.0 pp Harris; AAD plano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 ingredientes: Q empírica + denoising Gibbs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0.2–0.3 pp (15 min)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Los 3 hallazgos son consistentes entre sí y con la razón estructural (slide 13): la cobertura es marginal, P(stay) es conjunta.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08300"/>
                </a:solidFill>
                <a:latin typeface="Calibri"/>
              </a:rPr>
              <a:t>• La reducción deja 2 ingredientes: Q empírica (forma de la marginal) + denoising Gibbs (separa ruido de estado).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Validación 1 — activos mexicanos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evidence externa: ¿se generaliza la reducción?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669280"/>
                <a:gridCol w="2286000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Régimen</a:t>
                      </a:r>
                    </a:p>
                  </a:txBody>
                  <a:tcPr marL="73152" marR="54864" marT="27432" marB="27432" anchor="ctr"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73152" marR="54864" marT="27432" marB="27432" anchor="ctr"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Ganador</a:t>
                      </a:r>
                    </a:p>
                  </a:txBody>
                  <a:tcPr marL="73152" marR="54864" marT="27432" marB="27432" anchor="ctr">
                    <a:solidFill>
                      <a:srgbClr val="EB683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Diario (8 activos)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Hist.Sim gana 8/8 (SV 8–12 vs Hist 1.4–3.7 pp)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Hist. Sim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Intradía 1 h (8 activos)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SF-Harris gana 5/8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SF-Harris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6118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A diario gana Historical Simulation: sin RV intradía, rₜ² es ruidoso (σ≈2.27) y la reducción a “Q empírica” se vuelve indistinguible de Hist.Sim — y más simple.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08300"/>
                </a:solidFill>
                <a:latin typeface="Calibri"/>
              </a:rPr>
              <a:t>• En intradía (1 h) SF-Harris gana 5/8: la Q empírica + denoising aprovechan la RV mejor estimada.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03B3B"/>
                </a:solidFill>
                <a:latin typeface="Calibri"/>
              </a:rPr>
              <a:t>• Caveat: NO es apples-to-apples — SF-Harris es fixed-origin (un origen de expansión) y Hist.Sim es iid (rolling 1-paso), y la emisión gaussiana es “delgada” para activos con colas pesadas. La comparación direcciona, no zanja.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Validación 2 — selección de modelo (CRPS)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evidence externa: scoring de densidad predictiva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25</a:t>
            </a:r>
          </a:p>
        </p:txBody>
      </p:sp>
      <p:pic>
        <p:nvPicPr>
          <p:cNvPr id="6" name="Picture 5" descr="model_selection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62" y="1325880"/>
            <a:ext cx="6624434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281928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CRPS / log-score / PIT / 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41732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4A3AA7"/>
                </a:solidFill>
                <a:latin typeface="Calibri"/>
              </a:rPr>
              <a:t>• Hist.Sim gana en TODOS los scores (CRPS, log-score, PIT calibrado, DM significativo) en el rango central.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El SV (Q paramétrica pesada) SÓLO gana en colas extremas (P99.9+), donde la empírica no tiene datos.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AF7A"/>
                </a:solidFill>
                <a:latin typeface="Calibri"/>
              </a:rPr>
              <a:t>• → Esto apoya la reducción: en el rango donde hay datos, el modelo pesado no supera a la empírica. La GIG se justifica sólo para colas.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Riesgo — VaR y CVaR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dónde gana la Q empírica y dónde el modelo pesado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26</a:t>
            </a:r>
          </a:p>
        </p:txBody>
      </p:sp>
      <p:pic>
        <p:nvPicPr>
          <p:cNvPr id="6" name="Picture 5" descr="risk_measurement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60" y="1325880"/>
            <a:ext cx="6601238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281928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Backtest de VaR/CVaR por nivel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41732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08300"/>
                </a:solidFill>
                <a:latin typeface="Calibri"/>
              </a:rPr>
              <a:t>• 90–95%: Historical Simulation (≈ Q empírica) mejor calibrado — menos violaciones del nivel nominal.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B6834"/>
                </a:solidFill>
                <a:latin typeface="Calibri"/>
              </a:rPr>
              <a:t>• 99%+: el SV (GIG) es más conservador — CVaR 1.3–2.0× mayor, extrapolación hasta 2.69×.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AF7A"/>
                </a:solidFill>
                <a:latin typeface="Calibri"/>
              </a:rPr>
              <a:t>• → La reducción no tira la GIG: la Q paramétrica es el ingrediente que sobrevive en colas extremas (P99.9+).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Limitaciones honestas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6 caveats que acotan las afirmaciones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B6834"/>
                </a:solidFill>
                <a:latin typeface="Calibri"/>
              </a:rPr>
              <a:t>• (a) FUGA train/test [residual]: los titulares (0.3 pp dólar, 0.5 pp 15 min, 9.4→2.0, Tabla 3) ya están libres de fuga — saltos y periodicidad se ajustan solo sobre train y se aplican al test. Los Tests 2–10, Kalman y estimadores simples conservan la fuga → sus AADs absolutos son provisionales; las conclusiones relativas (P(stay) decorativa, denoising de τ*) son robustas porque la fuga desplaza ambos brazos por igual.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03B3B"/>
                </a:solidFill>
                <a:latin typeface="Calibri"/>
              </a:rPr>
              <a:t>• (b) El sweep plano 0.4 pp es del régimen SIN ruido de observación; el Gibbs real (con ruido) da ~18 pp de margen plano. Mismo signo, distinta magnitud.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(c) “Decorativa” = la dinámica temporal P(stay), NO toda la cadena. El Gibbs es esencial (uno de los 2 ingredientes).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03B3B"/>
                </a:solidFill>
                <a:latin typeface="Calibri"/>
              </a:rPr>
              <a:t>• (d) El “cap” de α no es reproducible (cap=10 vs cap=50 entre corridas) — pendiente de fijar.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(e) Test 1 es parcialmente circular (aad5 = aad1 comparten el mismo Gibbs) — por eso se corrobora con Tests 2 y 10.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(f) A diario rₜ² es ruidoso (σ≈2.27); el modelo necesita RV intradía. Sin ella, gana Hist.Sim por simplicidad.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Lo que ES, lo que NO ES, y cuándo usar cada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ES (SF-Harris sirve para)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NO ES (no sirve para)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Cobertura intradía, 15 min, dollar bars (AAD 0.3 pp)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Predicción direccional (AUC 0.42–0.51)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Extrapolación de colas extremas (P99.9+)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Detección de crisis (AUC 0.42)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Densidad predictiva calibrada con RV bien estimada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Optimización de portafolios (Sharpe 0.27 vs 0.45)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Estimación de parámetros (μ,σ) vía denoising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Suavido de estados (Kalman lo intenta, 16 pp)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14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08300"/>
                </a:solidFill>
                <a:latin typeface="Calibri"/>
              </a:rPr>
              <a:t>• Cuándo SF-Harris: intradía con RV bien estimada (≥ ~7 obs/día), cobertura y colas extremas.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B6834"/>
                </a:solidFill>
                <a:latin typeface="Calibri"/>
              </a:rPr>
              <a:t>• Cuándo Historical Simulation: datos diarios o sin RV intradía; simplicidad y mejor calibración central.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A3AA7"/>
                </a:solidFill>
                <a:latin typeface="Calibri"/>
              </a:rPr>
              <a:t>• Cuándo SV paramétrico (GIG): colas extremas donde la empírica no alcanza (P99.9+) y pricing de derivados.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Conclusiones y 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de la cadena de Harris a dos ingredientes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BAF7A"/>
                </a:solidFill>
                <a:latin typeface="Calibri"/>
              </a:rPr>
              <a:t>• 3 hallazgos: (1) Q empírica &gt; Q paramétrica en el rango observado; (2) los saltos continuos no aportan; (3) la dinámica P(stay) es decorativa para cobertura.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8300"/>
                </a:solidFill>
                <a:latin typeface="Calibri"/>
              </a:rPr>
              <a:t>• El modelo se reduce a 2 ingredientes: Q empírica (≈ Historical Simulation) + denoising bayesiano (Gibbs).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La decoratividad es estructural: la cobertura es propiedad marginal y P(stay) gobierna lo conjunto — bajo estacionariedad con Q fija.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D03B3B"/>
                </a:solidFill>
                <a:latin typeface="Calibri"/>
              </a:rPr>
              <a:t>• Futuro: separación train/test estricta y recálculo del AAD (cierra el caveat bloqueante).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Futuro: particle filter para suavido de estados (nivel 2), cambio de régimen, pricing de opciones, extensión multivariada.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• Futuro: comparar SF-Harris y Hist.Sim en el mismo régimen (ambos fixed-origin o ambos rolling 1-paso).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Gracias.  ¿Preguntas?</a:t>
            </a:r>
          </a:p>
          <a:p>
            <a:pPr algn="ctr"/>
            <a:r>
              <a:rPr sz="1600">
                <a:solidFill>
                  <a:srgbClr val="C3C2B7"/>
                </a:solidFill>
                <a:latin typeface="Calibri"/>
              </a:rPr>
              <a:t>Ángel Vences Adame  ·  IIMAS — UNAM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