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Modelo SF-Harris de volatilidad estocástica</a:t>
            </a:r>
          </a:p>
          <a:p>
            <a:r>
              <a:rPr sz="2600">
                <a:solidFill>
                  <a:srgbClr val="C3C2B7"/>
                </a:solidFill>
                <a:latin typeface="Calibri"/>
              </a:rPr>
              <a:t>¿Es decorativa la cadena de Harris para la predicción de cobertura?</a:t>
            </a:r>
          </a:p>
          <a:p>
            <a:pPr>
              <a:spcBef>
                <a:spcPts val="1800"/>
              </a:spcBef>
            </a:pPr>
            <a:r>
              <a:rPr sz="1800">
                <a:solidFill>
                  <a:srgbClr val="E87BA4"/>
                </a:solidFill>
                <a:latin typeface="Calibri"/>
              </a:rPr>
              <a:t>Replicación y extensión de Anzarut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Ángel Vences Adame</a:t>
            </a:r>
          </a:p>
          <a:p>
            <a:r>
              <a:rPr sz="1400">
                <a:solidFill>
                  <a:srgbClr val="C3C2B7"/>
                </a:solidFill>
                <a:latin typeface="Calibri"/>
              </a:rPr>
              <a:t>Licenciatura en Actuaría  ·  IIMAS — UNAM  ·  Servicio Social</a:t>
            </a:r>
          </a:p>
          <a:p>
            <a:r>
              <a:rPr sz="1400">
                <a:solidFill>
                  <a:srgbClr val="C3C2B7"/>
                </a:solidFill>
                <a:latin typeface="Calibri"/>
              </a:rPr>
              <a:t>Asesor: ____________     ·   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Introducción: la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¿decorativa la cadena para cobertura?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Anzarut (2023) propone el modelo SF-Harris para predecir volatilidad intradía: cadena de Harris + distribución invariante GIG + Gibbs sampler. Reporta cobertura con AAD = 0.8 pp sobre IBM a 15 min.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52514E"/>
                </a:solidFill>
                <a:latin typeface="Calibri"/>
              </a:rPr>
              <a:t>• El modelo tiene 3 piezas: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Cadena de Harris: estado latente con persistencia P(stay) = e^{-α} (masa puntual) y saltos desde Q.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Q invariante: distribución marginal de la volatilidad (GIG en Anzarut).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– Gibbs sampler: inferencia bayesiana y denoising de τ* (varianza latente).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Pregunta central: ¿la dinámica temporal de la cadena aporta poder predictivo, o la cobertura depende sólo de la distribución marginal?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• Objetivo: aislar cada componente con pruebas de ablación y medir su aporte real a la cobertura.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El modelo en un mapa mental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3 ingredientes (Q, α, Gibbs) + emisión  →  1 resultado (decorativa)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¿decorativa la cadena para cobertura?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2</a:t>
            </a:r>
          </a:p>
        </p:txBody>
      </p:sp>
      <p:pic>
        <p:nvPicPr>
          <p:cNvPr id="6" name="Picture 5" descr="mapa_me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Hipótesis que planteamos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¿decorativa la cadena para cobertura?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H1   </a:t>
            </a:r>
            <a:r>
              <a:rPr sz="1700">
                <a:solidFill>
                  <a:srgbClr val="0B0B0B"/>
                </a:solidFill>
                <a:latin typeface="Calibri"/>
              </a:rPr>
              <a:t>La dinámica temporal (P(stay)) es decorativa para cobertura: no aporta más allá de la marginal Q.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EB6834"/>
                </a:solidFill>
                <a:latin typeface="Calibri"/>
              </a:rPr>
              <a:t>H2   </a:t>
            </a:r>
            <a:r>
              <a:rPr sz="1700">
                <a:solidFill>
                  <a:srgbClr val="0B0B0B"/>
                </a:solidFill>
                <a:latin typeface="Calibri"/>
              </a:rPr>
              <a:t>Q empírica supera a Q paramétrica (GIG) en cobertura dentro del rango observado.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BAF7A"/>
                </a:solidFill>
                <a:latin typeface="Calibri"/>
              </a:rPr>
              <a:t>H3   </a:t>
            </a:r>
            <a:r>
              <a:rPr sz="1700">
                <a:solidFill>
                  <a:srgbClr val="0B0B0B"/>
                </a:solidFill>
                <a:latin typeface="Calibri"/>
              </a:rPr>
              <a:t>El modelo se reduce a 2 ingredientes esenciales: Q empírica + denoising bayesiano (Gibbs).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4A3AA7"/>
                </a:solidFill>
                <a:latin typeface="Calibri"/>
              </a:rPr>
              <a:t>H4   </a:t>
            </a:r>
            <a:r>
              <a:rPr sz="1700">
                <a:solidFill>
                  <a:srgbClr val="0B0B0B"/>
                </a:solidFill>
                <a:latin typeface="Calibri"/>
              </a:rPr>
              <a:t>P(stay) es no-informativa para cobertura con denoising (la cobertura es propiedad marginal).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E87BA4"/>
                </a:solidFill>
                <a:latin typeface="Calibri"/>
              </a:rPr>
              <a:t>H5   </a:t>
            </a:r>
            <a:r>
              <a:rPr sz="1700">
                <a:solidFill>
                  <a:srgbClr val="0B0B0B"/>
                </a:solidFill>
                <a:latin typeface="Calibri"/>
              </a:rPr>
              <a:t>La degradación a frecuencia diaria se debe al ruido del estimador de RV, no a P(stay).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E34948"/>
                </a:solidFill>
                <a:latin typeface="Calibri"/>
              </a:rPr>
              <a:t>H6   </a:t>
            </a:r>
            <a:r>
              <a:rPr sz="1700">
                <a:solidFill>
                  <a:srgbClr val="0B0B0B"/>
                </a:solidFill>
                <a:latin typeface="Calibri"/>
              </a:rPr>
              <a:t>SF-Harris no predice dirección, no detecta crisis ni optimiza portafolios (negativa).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Pruebas: cómo las diseñamos</a:t>
            </a:r>
          </a:p>
          <a:p>
            <a:r>
              <a:rPr sz="1500">
                <a:solidFill>
                  <a:srgbClr val="52514E"/>
                </a:solidFill>
                <a:latin typeface="Calibri"/>
              </a:rPr>
              <a:t>10 pruebas de ablación que aíslan cada componente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¿decorativa la cadena para cobertura?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23360"/>
                <a:gridCol w="1554480"/>
                <a:gridCol w="2743200"/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Grupo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Pruebas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Hipótesis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 marL="73152" marR="54864" marT="27432" marB="27432" anchor="ctr">
                    <a:solidFill>
                      <a:srgbClr val="4A3AA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Decoratividad de la dinámica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1 (descomposición.), 2 (ε-calib.), 8 (coin-flip), 9–10 (sweep P(stay))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H1, H4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AAD de cobertura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Frecuencia / ruido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3 (15-min vs 1h vs diario)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H5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AAD vs σ(logRV)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Poder direccional / crisis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5 (crisis), 7 (stay/jump)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H6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AUC, P(jump)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Q empírica vs paramétrica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replicación Anzarut (Tabla 3)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H2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AAD por tipo de Q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Aplicaciones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mexicanos, portafolio, VaR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H3, H6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AAD, Sharpe, viol. VaR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• Cobertura = proporción de veces que el intervalo predictivo contiene al valor futuro; AAD = desviación media absoluta respecto al nivel nominal (en puntos porcentuales).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R1 — La dinámica es decorativa (Test 1: descomposición.)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¿decorativa la cadena para cobertura?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01498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914400"/>
                <a:gridCol w="1463040"/>
                <a:gridCol w="1828800"/>
                <a:gridCol w="1371600"/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τ*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forma Q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dinámica Harris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AAD</a:t>
                      </a:r>
                    </a:p>
                  </a:txBody>
                  <a:tcPr marL="73152" marR="54864" marT="27432" marB="27432" anchor="ctr">
                    <a:solidFill>
                      <a:srgbClr val="2A78D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N(0,σ²) constante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9.4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+ adaptación de varianza (τ*)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2.0 pp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+ forma empírica de Q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2.0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+ dinámica de Harris (SF-Harris)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2.0 pp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70916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• De constante → τ* bajamos 7.4 pp: toda la mejora viene de adaptación de varianza (saber si hoy la volatilidad es alta o baja).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• La forma empírica de Q y la dinámica de Harris añaden 0.0 pp cada una.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→ Sostiene H1: la dinámica temporal no aporta a la cobertura más allá de la marginal.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R2 — P(stay) no-informativa (Tests 2, 9, 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¿decorativa la cadena para cobertura?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Test 2 (ε-calibración): barriendo ε en 8 órdenes de magnitud, P(stay) varía de 0.37 a 0.98 y el AAD se mantiene en una banda de 0.3 pp.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Test 10 (con denoising Gibbs): AAD plano en 0.41–0.54 pp para todo P(stay) entre 0.0 y 0.95.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34948"/>
                </a:solidFill>
                <a:latin typeface="Calibri"/>
              </a:rPr>
              <a:t>• Test 9 (sin Gibbs): sin denoising, P(stay) sí importa — es siempre destructiva (hasta 50 pp en P=0.88).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AF7A"/>
                </a:solidFill>
                <a:latin typeface="Calibri"/>
              </a:rPr>
              <a:t>• ¿Por qué? La cobertura es una propiedad MARGINAL del predictivo. Bajo estacionariedad, la marginal = Q = empírica, independiente de P(stay). P(stay) sólo reorganiza el orden temporal de los valores, no su distribución.</a:t>
            </a:r>
          </a:p>
        </p:txBody>
      </p:sp>
      <p:pic>
        <p:nvPicPr>
          <p:cNvPr id="7" name="Picture 6" descr="gibbs_pstay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033159"/>
            <a:ext cx="5029200" cy="2174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641908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Sweep de P(stay) con Gibbs: AAD ≈ plano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5852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AF7A"/>
                </a:solidFill>
                <a:latin typeface="Calibri"/>
              </a:rPr>
              <a:t>• → Sostiene H4. La no-informatividad es estructural, no un hallazgo empírico sorpresivo.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R3 — La frecuencia (el ruido del RV), no P(stay), degrada (Test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¿decorativa la cadena para cobertura?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1828800"/>
                <a:gridCol w="1554480"/>
                <a:gridCol w="2103120"/>
                <a:gridCol w="201168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Frecuencia</a:t>
                      </a:r>
                    </a:p>
                  </a:txBody>
                  <a:tcPr marL="73152" marR="54864" marT="27432" marB="27432" anchor="ctr">
                    <a:solidFill>
                      <a:srgbClr val="E87B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obs/día</a:t>
                      </a:r>
                    </a:p>
                  </a:txBody>
                  <a:tcPr marL="73152" marR="54864" marT="27432" marB="27432" anchor="ctr">
                    <a:solidFill>
                      <a:srgbClr val="E87B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σ(log RV)</a:t>
                      </a:r>
                    </a:p>
                  </a:txBody>
                  <a:tcPr marL="73152" marR="54864" marT="27432" marB="27432" anchor="ctr">
                    <a:solidFill>
                      <a:srgbClr val="E87B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P(stay)</a:t>
                      </a:r>
                    </a:p>
                  </a:txBody>
                  <a:tcPr marL="73152" marR="54864" marT="27432" marB="27432" anchor="ctr">
                    <a:solidFill>
                      <a:srgbClr val="E87B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SF-Harris</a:t>
                      </a:r>
                    </a:p>
                  </a:txBody>
                  <a:tcPr marL="73152" marR="54864" marT="27432" marB="27432" anchor="ctr">
                    <a:solidFill>
                      <a:srgbClr val="E87B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Hist. Sim.</a:t>
                      </a:r>
                    </a:p>
                  </a:txBody>
                  <a:tcPr marL="73152" marR="54864" marT="27432" marB="27432" anchor="ctr">
                    <a:solidFill>
                      <a:srgbClr val="E87BA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15-min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1.04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0.2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2.0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1-h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~0.55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10.3 pp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1.8 pp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diario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2.27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0.37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2.5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2.0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34340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El AAD sigue al ruido del estimador de RV (σ), no a P(stay): a 15 min, 26 obs/día → RV bien estimada → σ baja → buen desempeño.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A diario, r_t² es un estimador písimo de la varianza (σ = 2.27): el Gibbs inflar su distribución de saltos.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Historical Simulation no necesita estimar RV y elude el problema.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E87BA4"/>
                </a:solidFill>
                <a:latin typeface="Calibri"/>
              </a:rPr>
              <a:t>• → Sostiene H5.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R4 — No predice dirección ni crisis (Tests 5,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¿decorativa la cadena para cobertura?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1554480"/>
                <a:gridCol w="448056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Señal</a:t>
                      </a:r>
                    </a:p>
                  </a:txBody>
                  <a:tcPr marL="73152" marR="54864" marT="27432" marB="27432" anchor="ctr">
                    <a:solidFill>
                      <a:srgbClr val="E349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54864" marT="27432" marB="27432" anchor="ctr">
                    <a:solidFill>
                      <a:srgbClr val="E349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Interpretación</a:t>
                      </a:r>
                    </a:p>
                  </a:txBody>
                  <a:tcPr marL="73152" marR="54864" marT="27432" marB="27432" anchor="ctr">
                    <a:solidFill>
                      <a:srgbClr val="E3494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Detección de crisis (basada en PIT del modelo)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anti-predictivo (&lt; 0.5)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VIX para detección de crisis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referencia fuerte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Predicción stay/jump (ratio τ*)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indistinguible de azar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P(jump) a diario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0.63 (constante)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probabilidad incondicional, no señal temporal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4348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El modelo está menos sorprendido antes de las crisis que en promedio; P(jump) es un constante, no pico antes de cambios de régimen.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E34948"/>
                </a:solidFill>
                <a:latin typeface="Calibri"/>
              </a:rPr>
              <a:t>• → Sostiene H6: SF-Harris no es señal de trading ni detector de crisis. Su valor es la cobertura, no la dirección.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R5 — El modelo se reduce a 2 ingredientes (H2, H3)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¿decorativa la cadena para cobertura?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6766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554480"/>
                <a:gridCol w="24688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AAD (15-min)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Comentario</a:t>
                      </a:r>
                    </a:p>
                  </a:txBody>
                  <a:tcPr marL="73152" marR="54864" marT="27432" marB="27432" anchor="ctr">
                    <a:solidFill>
                      <a:srgbClr val="1BAF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Empírica (resamplear datos)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0.2–0.3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captura forma exacta de la marginal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Student-t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0.4 pp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colas pesadas paramétricas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Gaussiana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0.5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colas demasiado ligeras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GIG (Anzarut)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0.8 pp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B0B0B"/>
                          </a:solidFill>
                          <a:latin typeface="Calibri"/>
                        </a:rPr>
                        <a:t>subestima colas (kurtosis)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137160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BAF7A"/>
                </a:solidFill>
                <a:latin typeface="Calibri"/>
              </a:rPr>
              <a:t>• Modelo mínimo:  τ ~ Empírica(datos)  +  r|τ ~ N(0,τ)  con denoising Gibbs de τ*.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• La GIG sigue siendo útil para extrapolación de colas (P99.9+), donde la empírica no puede ir — único caso donde Q paramétrica gana.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Replicamos Anzarut a 15 min: AAD 0.2–0.3 pp (vs 0.8 pp Anzarut, 3.4 pp GARCH).</a:t>
            </a:r>
          </a:p>
        </p:txBody>
      </p:sp>
      <p:pic>
        <p:nvPicPr>
          <p:cNvPr id="8" name="Picture 7" descr="simple_estimator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049" y="4297680"/>
            <a:ext cx="5283741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601968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898781"/>
                </a:solidFill>
                <a:latin typeface="Calibri"/>
              </a:rPr>
              <a:t>Estimadores simples ≈ 26 pp vs Gibbs 0.2 pp: el denoising es esencial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R6 — Aplicaciones: ónde gana cada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¿decorativa la cadena para cobertura?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572000"/>
                <a:gridCol w="2286000"/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Aplicación</a:t>
                      </a:r>
                    </a:p>
                  </a:txBody>
                  <a:tcPr marL="73152" marR="54864" marT="27432" marB="27432" anchor="ctr">
                    <a:solidFill>
                      <a:srgbClr val="EB68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marL="73152" marR="54864" marT="27432" marB="27432" anchor="ctr">
                    <a:solidFill>
                      <a:srgbClr val="EB68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Ganador</a:t>
                      </a:r>
                    </a:p>
                  </a:txBody>
                  <a:tcPr marL="73152" marR="54864" marT="27432" marB="27432" anchor="ctr">
                    <a:solidFill>
                      <a:srgbClr val="EB683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Mexicanos diario (8 activos)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Hist.Sim gana 8/8 por 4.8–9.1 pp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Hist. Sim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Mexicanos intradía (1 h)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SF-Harris gana 5/8 activos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SF-Harris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Portafolio Markowitz (Sharpe)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Hist-Sharpe 0.45 vs SV-Sharpe 0.27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Hist. Sim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VaR niveles 90–95%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mejor calibrado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Hist. Sim</a:t>
                      </a:r>
                    </a:p>
                  </a:txBody>
                  <a:tcPr marL="73152" marR="54864" marT="27432" marB="27432" anchor="ctr">
                    <a:solidFill>
                      <a:srgbClr val="F3F2E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VaR/CVaR colas 99%+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más conservador (1.3–2.0×)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SV</a:t>
                      </a:r>
                    </a:p>
                  </a:txBody>
                  <a:tcPr marL="73152" marR="54864" marT="27432" marB="27432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617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Sin RV intradía (datos diarios mexicanos), r_t² es demasiado ruidoso y gana Historical Simulation.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En intradía SF-Harris (vía Q empírica + denoising) gana; en colas extremas el modelo pesado es más conservador.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EB6834"/>
                </a:solidFill>
                <a:latin typeface="Calibri"/>
              </a:rPr>
              <a:t>• → Sostiene H6: las aplicaciones direccionales/de portafolio no son el fuerte del modelo.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¿decorativa la cadena para cobertura?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La dinámica temporal de la cadena (P(stay)) es decorativa para cobertura bajo estacionariedad con Q fija — es estructural: la cobertura es propiedad marginal y P(stay) gobierna lo conjunto, no la marginal.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AF7A"/>
                </a:solidFill>
                <a:latin typeface="Calibri"/>
              </a:rPr>
              <a:t>• El modelo se reduce a 2 ingredientes: Q empírica (≈ Historical Simulation) + denoising bayesiano (Gibbs).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8300"/>
                </a:solidFill>
                <a:latin typeface="Calibri"/>
              </a:rPr>
              <a:t>• SF-Harris sirve para: cobertura intradía (0.2 pp), extrapolación de colas (P99.9+) y varianza realizada bien estimada.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E34948"/>
                </a:solidFill>
                <a:latin typeface="Calibri"/>
              </a:rPr>
              <a:t>• SF-Harris NO sirve para: predicción direccional (AUC 0.42–0.51), detección de crisis, ni optimización de portafolios.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A frecuencia diaria (sin RV intradía) gana Historical Simulation por simplicidad y mejor calibración.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La GIG (Anzarut) aporta menos que Q empírica salvo en extrapolación de colas extremas.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Limitaciones y trabajo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98781"/>
                </a:solidFill>
                <a:latin typeface="Calibri"/>
              </a:rPr>
              <a:t>SF-Harris — ¿decorativa la cadena para cobertura?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98781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Framing: “decorativa” se refiere a la dinámica temporal (P(stay)); el Gibbs sí es esencial (uno de los 2 ingredientes).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03B3B"/>
                </a:solidFill>
                <a:latin typeface="Calibri"/>
              </a:rPr>
              <a:t>• Pendiente: separación train/test estricta en el pipeline (saltos y periodicidad estimados sólo con entrenamiento) y recálculo del AAD.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Pendiente: diagnósticos MCMC (R-hat, ESS, trazas) y reproducibilidad del “cap” de α.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Pendiente: el sweep de P(stay) debe correrse dentro del Gibbs real (con ruido de observación), no sólo en el régimen sin ruido.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Futuro: validar las aplicaciones (variance swaps, opciones VIX, dispersión) con backtest, no sólo como propuesta.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Futuro: comparar SF-Harris y Hist.Sim en el mismo régimen (ambos fixed-origin o ambos rolling 1-paso).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Gracias.  ¿Preguntas?</a:t>
            </a:r>
          </a:p>
          <a:p>
            <a:pPr algn="ctr"/>
            <a:r>
              <a:rPr sz="1600">
                <a:solidFill>
                  <a:srgbClr val="C3C2B7"/>
                </a:solidFill>
                <a:latin typeface="Calibri"/>
              </a:rPr>
              <a:t>Ángel Vences Adame  ·  IIMAS — UNAM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