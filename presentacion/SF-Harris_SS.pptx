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274" r:id="rId4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68" r:id="rId18"/>
    <p:sldId id="276" r:id="rId19"/>
    <p:sldId id="277" r:id="rId20"/>
    <p:sldId id="270" r:id="rId21"/>
    <p:sldId id="271" r:id="rId22"/>
    <p:sldId id="272" r:id="rId23"/>
  </p:sldIdLst>
  <p:sldSz cx="24384000" cy="13716000"/>
  <p:notesSz cx="6858000" cy="9144000"/>
  <p:embeddedFontLst>
    <p:embeddedFont>
      <p:font typeface="Arimo Bold" panose="020B0604020202020204" charset="0"/>
      <p:regular r:id="rId25"/>
    </p:embeddedFont>
    <p:embeddedFont>
      <p:font typeface="Cambria Math" panose="02040503050406030204" pitchFamily="18" charset="0"/>
      <p:regular r:id="rId26"/>
    </p:embeddedFont>
    <p:embeddedFont>
      <p:font typeface="Inter" panose="020B0604020202020204" charset="0"/>
      <p:regular r:id="rId27"/>
    </p:embeddedFont>
    <p:embeddedFont>
      <p:font typeface="Inter Bold" panose="020B0604020202020204" charset="0"/>
      <p:regular r:id="rId28"/>
    </p:embeddedFont>
    <p:embeddedFont>
      <p:font typeface="Inter Extra-Light" panose="020B0604020202020204" charset="0"/>
      <p:regular r:id="rId29"/>
    </p:embeddedFont>
    <p:embeddedFont>
      <p:font typeface="Inter Light" panose="020B0604020202020204" charset="0"/>
      <p:regular r:id="rId30"/>
    </p:embeddedFont>
    <p:embeddedFont>
      <p:font typeface="Inter Semi-Bold" panose="020B0604020202020204" charset="0"/>
      <p:regular r:id="rId31"/>
    </p:embeddedFont>
    <p:embeddedFont>
      <p:font typeface="Inter Thin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30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9470B-7D1E-48FA-92AC-8498EA9204F5}" type="datetimeFigureOut">
              <a:rPr lang="es-MX" smtClean="0"/>
              <a:t>30/09/2026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F0D40-8209-47B4-B152-92340E7F89E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046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0D40-8209-47B4-B152-92340E7F89EC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791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C:\Users\angve\OneDrive\Desktop\Servicio\sf-harris-servicio-social\docs\freq_optimum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hyperlink" Target="file:///C:\Users\angve\OneDrive\Desktop\Servicio\sf-harris-servicio-social\docs\grid_surfaces.html" TargetMode="External"/><Relationship Id="rId5" Type="http://schemas.openxmlformats.org/officeDocument/2006/relationships/image" Target="../media/image32.sv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hyperlink" Target="file:///C:\Users\angve\OneDrive\Desktop\Servicio\sf-harris-servicio-social\docs\pstay_compare.html" TargetMode="External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C:\Users\angve\OneDrive\Desktop\Servicio\sf-harris-servicio-social\docs\gig_compare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00751">
            <a:off x="11342861" y="-1596731"/>
            <a:ext cx="13587140" cy="14079938"/>
          </a:xfrm>
          <a:custGeom>
            <a:avLst/>
            <a:gdLst/>
            <a:ahLst/>
            <a:cxnLst/>
            <a:rect l="l" t="t" r="r" b="b"/>
            <a:pathLst>
              <a:path w="13587140" h="14079938">
                <a:moveTo>
                  <a:pt x="0" y="0"/>
                </a:moveTo>
                <a:lnTo>
                  <a:pt x="13587141" y="0"/>
                </a:lnTo>
                <a:lnTo>
                  <a:pt x="13587141" y="14079939"/>
                </a:lnTo>
                <a:lnTo>
                  <a:pt x="0" y="14079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/>
          <p:cNvGrpSpPr/>
          <p:nvPr/>
        </p:nvGrpSpPr>
        <p:grpSpPr>
          <a:xfrm>
            <a:off x="1056356" y="10567297"/>
            <a:ext cx="5004265" cy="781813"/>
            <a:chOff x="0" y="0"/>
            <a:chExt cx="988497" cy="154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8497" cy="154432"/>
            </a:xfrm>
            <a:custGeom>
              <a:avLst/>
              <a:gdLst/>
              <a:ahLst/>
              <a:cxnLst/>
              <a:rect l="l" t="t" r="r" b="b"/>
              <a:pathLst>
                <a:path w="988497" h="154432">
                  <a:moveTo>
                    <a:pt x="77216" y="0"/>
                  </a:moveTo>
                  <a:lnTo>
                    <a:pt x="911281" y="0"/>
                  </a:lnTo>
                  <a:cubicBezTo>
                    <a:pt x="953926" y="0"/>
                    <a:pt x="988497" y="34571"/>
                    <a:pt x="988497" y="77216"/>
                  </a:cubicBezTo>
                  <a:lnTo>
                    <a:pt x="988497" y="77216"/>
                  </a:lnTo>
                  <a:cubicBezTo>
                    <a:pt x="988497" y="97695"/>
                    <a:pt x="980361" y="117335"/>
                    <a:pt x="965881" y="131816"/>
                  </a:cubicBezTo>
                  <a:cubicBezTo>
                    <a:pt x="951400" y="146297"/>
                    <a:pt x="931760" y="154432"/>
                    <a:pt x="911281" y="154432"/>
                  </a:cubicBezTo>
                  <a:lnTo>
                    <a:pt x="77216" y="154432"/>
                  </a:lnTo>
                  <a:cubicBezTo>
                    <a:pt x="56737" y="154432"/>
                    <a:pt x="37097" y="146297"/>
                    <a:pt x="22616" y="131816"/>
                  </a:cubicBezTo>
                  <a:cubicBezTo>
                    <a:pt x="8135" y="117335"/>
                    <a:pt x="0" y="97695"/>
                    <a:pt x="0" y="77216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101010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8497" cy="202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2"/>
                </a:lnSpc>
              </a:pPr>
              <a:endParaRPr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56356" y="7422387"/>
            <a:ext cx="9467525" cy="314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45"/>
              </a:lnSpc>
            </a:pPr>
            <a:r>
              <a:rPr lang="en-US" sz="13421" b="1" dirty="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Reporte SS </a:t>
            </a:r>
          </a:p>
          <a:p>
            <a:pPr algn="l">
              <a:lnSpc>
                <a:spcPts val="11945"/>
              </a:lnSpc>
            </a:pPr>
            <a:r>
              <a:rPr lang="en-US" sz="13421" b="1" dirty="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SF - Harris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0132" y="10810005"/>
            <a:ext cx="4161067" cy="377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3210" dirty="0">
                <a:solidFill>
                  <a:srgbClr val="FFFFFF"/>
                </a:solidFill>
                <a:latin typeface="Inter Thin"/>
                <a:ea typeface="Inter Thin"/>
                <a:cs typeface="Inter Thin"/>
                <a:sym typeface="Inter Thin"/>
              </a:rPr>
              <a:t>Angel Vences Adame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24EE9-1AFB-AF69-E8EA-7FB55B06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EBB268C3-2B2A-7126-8384-4C1F42B5FE09}"/>
              </a:ext>
            </a:extLst>
          </p:cNvPr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AAC63CFD-F4A2-4806-D965-742993FCC8DD}"/>
                </a:ext>
              </a:extLst>
            </p:cNvPr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D916DEB7-2446-B029-B0A8-A93F8E4E0EDE}"/>
                  </a:ext>
                </a:extLst>
              </p:cNvPr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359223FA-D52C-4629-C2AC-BBE680930C6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48A5821E-7467-0333-B742-3124AEE6E12A}"/>
                </a:ext>
              </a:extLst>
            </p:cNvPr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4A6258-C511-0391-1FEE-8CBC0DFED1D3}"/>
                </a:ext>
              </a:extLst>
            </p:cNvPr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04</a:t>
              </a:r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26E9A747-370D-DA9D-3FE0-138B9E569250}"/>
              </a:ext>
            </a:extLst>
          </p:cNvPr>
          <p:cNvSpPr txBox="1"/>
          <p:nvPr/>
        </p:nvSpPr>
        <p:spPr>
          <a:xfrm>
            <a:off x="6935014" y="2568792"/>
            <a:ext cx="10895786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Proceso de Feller</a:t>
            </a: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D75B126B-46B3-A172-D546-BAC8817023C5}"/>
              </a:ext>
            </a:extLst>
          </p:cNvPr>
          <p:cNvSpPr/>
          <p:nvPr/>
        </p:nvSpPr>
        <p:spPr>
          <a:xfrm>
            <a:off x="3505199" y="3810000"/>
            <a:ext cx="17373601" cy="4114800"/>
          </a:xfrm>
          <a:custGeom>
            <a:avLst/>
            <a:gdLst/>
            <a:ahLst/>
            <a:cxnLst/>
            <a:rect l="l" t="t" r="r" b="b"/>
            <a:pathLst>
              <a:path w="1971692" h="265911">
                <a:moveTo>
                  <a:pt x="52742" y="0"/>
                </a:moveTo>
                <a:lnTo>
                  <a:pt x="1918950" y="0"/>
                </a:lnTo>
                <a:cubicBezTo>
                  <a:pt x="1932938" y="0"/>
                  <a:pt x="1946353" y="5557"/>
                  <a:pt x="1956244" y="15448"/>
                </a:cubicBezTo>
                <a:cubicBezTo>
                  <a:pt x="1966135" y="25339"/>
                  <a:pt x="1971692" y="38754"/>
                  <a:pt x="1971692" y="52742"/>
                </a:cubicBezTo>
                <a:lnTo>
                  <a:pt x="1971692" y="213170"/>
                </a:lnTo>
                <a:cubicBezTo>
                  <a:pt x="1971692" y="227158"/>
                  <a:pt x="1966135" y="240573"/>
                  <a:pt x="1956244" y="250464"/>
                </a:cubicBezTo>
                <a:cubicBezTo>
                  <a:pt x="1946353" y="260355"/>
                  <a:pt x="1932938" y="265911"/>
                  <a:pt x="1918950" y="265911"/>
                </a:cubicBezTo>
                <a:lnTo>
                  <a:pt x="52742" y="265911"/>
                </a:lnTo>
                <a:cubicBezTo>
                  <a:pt x="23613" y="265911"/>
                  <a:pt x="0" y="242298"/>
                  <a:pt x="0" y="213170"/>
                </a:cubicBezTo>
                <a:lnTo>
                  <a:pt x="0" y="52742"/>
                </a:lnTo>
                <a:cubicBezTo>
                  <a:pt x="0" y="38754"/>
                  <a:pt x="5557" y="25339"/>
                  <a:pt x="15448" y="15448"/>
                </a:cubicBezTo>
                <a:cubicBezTo>
                  <a:pt x="25339" y="5557"/>
                  <a:pt x="38754" y="0"/>
                  <a:pt x="52742" y="0"/>
                </a:cubicBezTo>
                <a:close/>
              </a:path>
            </a:pathLst>
          </a:custGeom>
          <a:solidFill>
            <a:srgbClr val="E2E3E8">
              <a:alpha val="40000"/>
            </a:srgbClr>
          </a:solidFill>
        </p:spPr>
        <p:txBody>
          <a:bodyPr/>
          <a:lstStyle/>
          <a:p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DB8032D3-EB42-201E-C73F-275878E77E88}"/>
                  </a:ext>
                </a:extLst>
              </p:cNvPr>
              <p:cNvSpPr txBox="1"/>
              <p:nvPr/>
            </p:nvSpPr>
            <p:spPr>
              <a:xfrm>
                <a:off x="4267200" y="4495800"/>
                <a:ext cx="17785424" cy="27907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115"/>
                  </a:lnSpc>
                </a:pPr>
                <a:r>
                  <a:rPr lang="en-US" sz="3500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Sea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3500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 un proceso estocástico de Markov homogéneo con espacio de estados localmente compacto y separable. Con un semigrupo de operadores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Inter Extra-Light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MX" sz="3500" b="1" i="1" spc="-147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Inter Extra-Light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sz="3500" b="1" i="1" spc="-147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Inter Extra-Light"/>
                                  </a:rPr>
                                </m:ctrlPr>
                              </m:sSubPr>
                              <m:e>
                                <m:r>
                                  <a:rPr lang="es-MX" sz="3500" b="1" i="1" spc="-147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Inter Extra-Light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s-MX" sz="3500" b="1" i="1" spc="-147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Inter Extra-Light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Inter Extra-Light"/>
                          </a:rPr>
                          <m:t>𝒕</m:t>
                        </m:r>
                        <m: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≥</m:t>
                        </m:r>
                        <m: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Inter Extra-Light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500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 tal que </a:t>
                </a:r>
                <a:endParaRPr lang="es-MX" sz="3500" b="0" i="1" spc="-147" dirty="0">
                  <a:solidFill>
                    <a:srgbClr val="000000"/>
                  </a:solidFill>
                  <a:latin typeface="Cambria Math" panose="02040503050406030204" pitchFamily="18" charset="0"/>
                  <a:ea typeface="Inter Semi-Bold" panose="020B0604020202020204" charset="0"/>
                  <a:sym typeface="Inter Extra-Light"/>
                </a:endParaRPr>
              </a:p>
              <a:p>
                <a:pPr algn="l">
                  <a:lnSpc>
                    <a:spcPts val="3115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s-MX" sz="3500" b="0" i="0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sym typeface="Inter Extra-Light"/>
                      </a:rPr>
                      <m:t>f</m:t>
                    </m:r>
                    <m:r>
                      <a:rPr lang="es-MX" sz="3500" b="0" i="0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cs typeface="Inter Extra-Light"/>
                        <a:sym typeface="Inter Extra-Light"/>
                      </a:rPr>
                      <m:t> </m:t>
                    </m:r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cs typeface="Inter Extra-Light"/>
                        <a:sym typeface="Inter Extra-Light"/>
                      </a:rPr>
                      <m:t>=</m:t>
                    </m:r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x</m:t>
                        </m:r>
                      </m:sub>
                    </m:sSub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cs typeface="Inter Extra-Light"/>
                        <a:sym typeface="Inter Extra-Light"/>
                      </a:rPr>
                      <m:t>[</m:t>
                    </m:r>
                    <m:r>
                      <m:rPr>
                        <m:sty m:val="p"/>
                      </m:rP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cs typeface="Inter Extra-Light"/>
                        <a:sym typeface="Inter Extra-Light"/>
                      </a:rPr>
                      <m:t>f</m:t>
                    </m:r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cs typeface="Inter Extra-Light"/>
                        <a:sym typeface="Inter Extra-Light"/>
                      </a:rPr>
                      <m:t>(</m:t>
                    </m:r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t</m:t>
                        </m:r>
                      </m:sub>
                    </m:sSub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cs typeface="Inter Extra-Light"/>
                        <a:sym typeface="Inter Extra-Light"/>
                      </a:rPr>
                      <m:t>)]</m:t>
                    </m:r>
                  </m:oMath>
                </a14:m>
                <a:r>
                  <a:rPr lang="en-US" sz="3500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 es un proceso de Feller si:</a:t>
                </a:r>
              </a:p>
              <a:p>
                <a:pPr algn="l">
                  <a:lnSpc>
                    <a:spcPts val="3115"/>
                  </a:lnSpc>
                </a:pPr>
                <a:endParaRPr lang="en-US" sz="3500" spc="-147" dirty="0">
                  <a:solidFill>
                    <a:srgbClr val="000000"/>
                  </a:solidFill>
                  <a:latin typeface="Inter Semi-Bold" panose="020B0604020202020204" charset="0"/>
                  <a:ea typeface="Inter Semi-Bold" panose="020B0604020202020204" charset="0"/>
                  <a:cs typeface="Inter Extra-Light"/>
                  <a:sym typeface="Inter Extra-Light"/>
                </a:endParaRPr>
              </a:p>
              <a:p>
                <a:pPr algn="l">
                  <a:lnSpc>
                    <a:spcPts val="3115"/>
                  </a:lnSpc>
                </a:pPr>
                <a:endParaRPr lang="en-US" sz="3500" spc="-147" dirty="0">
                  <a:solidFill>
                    <a:srgbClr val="000000"/>
                  </a:solidFill>
                  <a:latin typeface="Inter Semi-Bold" panose="020B0604020202020204" charset="0"/>
                  <a:ea typeface="Inter Semi-Bold" panose="020B0604020202020204" charset="0"/>
                  <a:cs typeface="Inter Extra-Light"/>
                  <a:sym typeface="Inter Extra-Light"/>
                </a:endParaRPr>
              </a:p>
              <a:p>
                <a:pPr marL="514350" indent="-514350" algn="l">
                  <a:lnSpc>
                    <a:spcPts val="3115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350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∀ </m:t>
                    </m:r>
                    <m:r>
                      <m:rPr>
                        <m:sty m:val="p"/>
                      </m:rP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f</m:t>
                    </m:r>
                    <m:r>
                      <a:rPr lang="en-US" sz="350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∈</m:t>
                    </m:r>
                    <m:sSub>
                      <m:sSubPr>
                        <m:ctrlPr>
                          <a:rPr lang="en-US" sz="350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50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C</m:t>
                        </m:r>
                      </m:e>
                      <m:sub>
                        <m:r>
                          <a:rPr lang="en-US" sz="350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0</m:t>
                        </m:r>
                      </m:sub>
                    </m:sSub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 ⟹ </m:t>
                    </m:r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f</m:t>
                    </m:r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 ∈</m:t>
                    </m:r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C</m:t>
                        </m:r>
                      </m:e>
                      <m:sub>
                        <m: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0</m:t>
                        </m:r>
                      </m:sub>
                    </m:sSub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     </m:t>
                    </m:r>
                  </m:oMath>
                </a14:m>
                <a:r>
                  <a:rPr lang="es-MX" sz="3500" b="0" spc="-147" dirty="0">
                    <a:solidFill>
                      <a:srgbClr val="000000"/>
                    </a:solidFill>
                    <a:latin typeface="Inter Semi-Bold" panose="020B0604020202020204" charset="0"/>
                    <a:ea typeface="Cambria Math" panose="02040503050406030204" pitchFamily="18" charset="0"/>
                    <a:sym typeface="Inter Extra-Light"/>
                  </a:rPr>
                  <a:t>  </a:t>
                </a:r>
              </a:p>
              <a:p>
                <a:pPr marL="514350" indent="-514350">
                  <a:lnSpc>
                    <a:spcPts val="3115"/>
                  </a:lnSpc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50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Inter Extra-Light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s-MX" sz="3500" i="1" spc="-147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Inter Extra-Light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sz="3500" i="1" spc="-147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Inter Extra-Light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sz="3500" i="1" spc="-147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Inter Extra-Light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s-MX" sz="3500" i="1" spc="-147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Inter Extra-Light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s-MX" sz="3500" i="1" spc="-147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Inter Extra-Light"/>
                              </a:rPr>
                              <m:t>f</m:t>
                            </m:r>
                            <m:r>
                              <a:rPr lang="es-MX" sz="3500" b="0" i="1" spc="-147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Inter Extra-Light"/>
                              </a:rPr>
                              <m:t>-</m:t>
                            </m:r>
                            <m:r>
                              <m:rPr>
                                <m:sty m:val="p"/>
                              </m:rPr>
                              <a:rPr lang="es-MX" sz="3500" b="0" i="1" spc="-147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Inter Extra-Light"/>
                              </a:rPr>
                              <m:t>f</m:t>
                            </m:r>
                            <m:r>
                              <a:rPr lang="es-MX" sz="3500" b="0" i="1" spc="-147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Inter Extra-Light"/>
                              </a:rPr>
                              <m:t> </m:t>
                            </m:r>
                          </m:e>
                        </m:d>
                      </m:e>
                      <m:sub>
                        <m:r>
                          <a:rPr lang="en-US" sz="350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Inter Extra-Light"/>
                          </a:rPr>
                          <m:t>∞</m:t>
                        </m:r>
                      </m:sub>
                    </m:sSub>
                    <m:r>
                      <a:rPr lang="en-US" sz="350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⟶</m:t>
                    </m:r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Inter Extra-Light"/>
                      </a:rPr>
                      <m:t> 0</m:t>
                    </m:r>
                  </m:oMath>
                </a14:m>
                <a:r>
                  <a:rPr lang="en-US" sz="3500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 </a:t>
                </a:r>
                <a:r>
                  <a:rPr lang="en-US" sz="3500" spc="-147" dirty="0">
                    <a:solidFill>
                      <a:srgbClr val="000000"/>
                    </a:solidFill>
                    <a:latin typeface="Inter Light" panose="020B0604020202020204" charset="0"/>
                    <a:ea typeface="Inter Light" panose="020B0604020202020204" charset="0"/>
                    <a:cs typeface="Inter Extra-Light"/>
                    <a:sym typeface="Inter Extra-Light"/>
                  </a:rPr>
                  <a:t>cuando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Light" panose="020B0604020202020204" charset="0"/>
                        <a:cs typeface="Inter Extra-Light"/>
                        <a:sym typeface="Inter Extra-Light"/>
                      </a:rPr>
                      <m:t>t</m:t>
                    </m:r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Inter Extra-Light"/>
                        <a:sym typeface="Inter Extra-Light"/>
                      </a:rPr>
                      <m:t>→</m:t>
                    </m:r>
                    <m:sSup>
                      <m:sSup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</m:ctrlPr>
                      </m:sSupPr>
                      <m:e>
                        <m: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0</m:t>
                        </m:r>
                      </m:e>
                      <m:sup>
                        <m: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Inter Extra-Light"/>
                          </a:rPr>
                          <m:t>+</m:t>
                        </m:r>
                      </m:sup>
                    </m:sSup>
                  </m:oMath>
                </a14:m>
                <a:endParaRPr lang="en-US" sz="3500" spc="-147" dirty="0">
                  <a:solidFill>
                    <a:srgbClr val="000000"/>
                  </a:solidFill>
                  <a:latin typeface="Inter Semi-Bold" panose="020B0604020202020204" charset="0"/>
                  <a:ea typeface="Inter Semi-Bold" panose="020B0604020202020204" charset="0"/>
                  <a:cs typeface="Inter Extra-Light"/>
                  <a:sym typeface="Inter Extra-Light"/>
                </a:endParaRPr>
              </a:p>
            </p:txBody>
          </p:sp>
        </mc:Choice>
        <mc:Fallback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DB8032D3-EB42-201E-C73F-275878E77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495800"/>
                <a:ext cx="17785424" cy="2790764"/>
              </a:xfrm>
              <a:prstGeom prst="rect">
                <a:avLst/>
              </a:prstGeom>
              <a:blipFill>
                <a:blip r:embed="rId2"/>
                <a:stretch>
                  <a:fillRect l="-1508" t="-9847" b="-897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A93EB39D-F652-2C25-7054-AA07B027AC99}"/>
                  </a:ext>
                </a:extLst>
              </p:cNvPr>
              <p:cNvSpPr txBox="1"/>
              <p:nvPr/>
            </p:nvSpPr>
            <p:spPr>
              <a:xfrm>
                <a:off x="4478211" y="8763000"/>
                <a:ext cx="16764000" cy="27907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115"/>
                  </a:lnSpc>
                </a:pP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Lo cual nos garantiza que sea “bien portado” o sea propiedades como:</a:t>
                </a:r>
              </a:p>
              <a:p>
                <a:pPr>
                  <a:lnSpc>
                    <a:spcPts val="3115"/>
                  </a:lnSpc>
                </a:pPr>
                <a:endParaRPr lang="es-MX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endParaRPr>
              </a:p>
              <a:p>
                <a:pPr marL="457200" indent="-457200">
                  <a:lnSpc>
                    <a:spcPts val="3115"/>
                  </a:lnSpc>
                  <a:buFont typeface="Arial" panose="020B0604020202020204" pitchFamily="34" charset="0"/>
                  <a:buChar char="•"/>
                </a:pP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Trayectorias cadlag.</a:t>
                </a:r>
              </a:p>
              <a:p>
                <a:pPr marL="457200" indent="-457200">
                  <a:lnSpc>
                    <a:spcPts val="3115"/>
                  </a:lnSpc>
                  <a:buFont typeface="Arial" panose="020B0604020202020204" pitchFamily="34" charset="0"/>
                  <a:buChar char="•"/>
                </a:pP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Propiedad de Markov fuerte: el proceso puede renovarse en tiempos de parada.</a:t>
                </a:r>
              </a:p>
              <a:p>
                <a:pPr marL="457200" indent="-457200">
                  <a:lnSpc>
                    <a:spcPts val="3115"/>
                  </a:lnSpc>
                  <a:buFont typeface="Arial" panose="020B0604020202020204" pitchFamily="34" charset="0"/>
                  <a:buChar char="•"/>
                </a:pP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El semigrupo es la exponencial del Generador Infinitesimal.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Extra-Light"/>
                            <a:sym typeface="Inter Extra-Ligh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Extra-Light"/>
                            <a:sym typeface="Inter Extra-Light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Extra-Light"/>
                            <a:sym typeface="Inter Extra-Light"/>
                          </a:rPr>
                          <m:t>t</m:t>
                        </m:r>
                      </m:sub>
                    </m:sSub>
                    <m:r>
                      <a:rPr lang="es-MX" sz="3500" b="0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Extra-Light"/>
                        <a:sym typeface="Inter Extra-Light"/>
                      </a:rPr>
                      <m:t>=</m:t>
                    </m:r>
                    <m:sSup>
                      <m:sSupPr>
                        <m:ctrl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Extra-Light"/>
                            <a:sym typeface="Inter Extra-Light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Extra-Light"/>
                            <a:sym typeface="Inter Extra-Light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s-MX" sz="3500" b="0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Extra-Light"/>
                            <a:sym typeface="Inter Extra-Light"/>
                          </a:rPr>
                          <m:t>tA</m:t>
                        </m:r>
                      </m:sup>
                    </m:sSup>
                  </m:oMath>
                </a14:m>
                <a:endParaRPr lang="es-MX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endParaRPr>
              </a:p>
              <a:p>
                <a:pPr marL="457200" indent="-457200">
                  <a:lnSpc>
                    <a:spcPts val="3115"/>
                  </a:lnSpc>
                  <a:buFont typeface="Arial" panose="020B0604020202020204" pitchFamily="34" charset="0"/>
                  <a:buChar char="•"/>
                </a:pP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Unicidad del proceso asociado a </a:t>
                </a:r>
                <a:r>
                  <a:rPr lang="es-MX" sz="3500" b="1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cada</a:t>
                </a: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 Generador Infinitesimal.</a:t>
                </a:r>
              </a:p>
              <a:p>
                <a:pPr marL="457200" indent="-457200">
                  <a:lnSpc>
                    <a:spcPts val="3115"/>
                  </a:lnSpc>
                  <a:buFont typeface="Arial" panose="020B0604020202020204" pitchFamily="34" charset="0"/>
                  <a:buChar char="•"/>
                </a:pPr>
                <a:r>
                  <a:rPr lang="es-MX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Estabilidad: Dos puntos cercanos terminarán cerca del otro.</a:t>
                </a:r>
              </a:p>
            </p:txBody>
          </p:sp>
        </mc:Choice>
        <mc:Fallback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A93EB39D-F652-2C25-7054-AA07B027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211" y="8763000"/>
                <a:ext cx="16764000" cy="2790764"/>
              </a:xfrm>
              <a:prstGeom prst="rect">
                <a:avLst/>
              </a:prstGeom>
              <a:blipFill>
                <a:blip r:embed="rId3"/>
                <a:stretch>
                  <a:fillRect l="-1636" t="-9847" b="-897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47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01633-2F73-2260-BD80-356EBE7B1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193408AE-6B3B-010D-8BF6-A36BE98583D9}"/>
              </a:ext>
            </a:extLst>
          </p:cNvPr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3CB1D63D-AD22-435B-682E-ADCAA64091C0}"/>
                </a:ext>
              </a:extLst>
            </p:cNvPr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EE58F49E-8349-274A-A3FF-509124931C6B}"/>
                  </a:ext>
                </a:extLst>
              </p:cNvPr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3AD592AE-8DCC-8602-F08C-EE74E9D7F1D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F85FBBE-4FF8-1F1C-A7D8-DEE747434964}"/>
                </a:ext>
              </a:extLst>
            </p:cNvPr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C825022-A002-2906-ACA0-9536D0298B17}"/>
                </a:ext>
              </a:extLst>
            </p:cNvPr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04</a:t>
              </a:r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68C430DA-5DC8-AA09-05DD-68727D1CDCD7}"/>
              </a:ext>
            </a:extLst>
          </p:cNvPr>
          <p:cNvSpPr txBox="1"/>
          <p:nvPr/>
        </p:nvSpPr>
        <p:spPr>
          <a:xfrm>
            <a:off x="6935014" y="2568792"/>
            <a:ext cx="10895786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Harris Recurrente</a:t>
            </a: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7F9189D6-B686-A91B-43F6-2F84607D2184}"/>
              </a:ext>
            </a:extLst>
          </p:cNvPr>
          <p:cNvSpPr/>
          <p:nvPr/>
        </p:nvSpPr>
        <p:spPr>
          <a:xfrm>
            <a:off x="3505199" y="3810000"/>
            <a:ext cx="17373601" cy="4114800"/>
          </a:xfrm>
          <a:custGeom>
            <a:avLst/>
            <a:gdLst/>
            <a:ahLst/>
            <a:cxnLst/>
            <a:rect l="l" t="t" r="r" b="b"/>
            <a:pathLst>
              <a:path w="1971692" h="265911">
                <a:moveTo>
                  <a:pt x="52742" y="0"/>
                </a:moveTo>
                <a:lnTo>
                  <a:pt x="1918950" y="0"/>
                </a:lnTo>
                <a:cubicBezTo>
                  <a:pt x="1932938" y="0"/>
                  <a:pt x="1946353" y="5557"/>
                  <a:pt x="1956244" y="15448"/>
                </a:cubicBezTo>
                <a:cubicBezTo>
                  <a:pt x="1966135" y="25339"/>
                  <a:pt x="1971692" y="38754"/>
                  <a:pt x="1971692" y="52742"/>
                </a:cubicBezTo>
                <a:lnTo>
                  <a:pt x="1971692" y="213170"/>
                </a:lnTo>
                <a:cubicBezTo>
                  <a:pt x="1971692" y="227158"/>
                  <a:pt x="1966135" y="240573"/>
                  <a:pt x="1956244" y="250464"/>
                </a:cubicBezTo>
                <a:cubicBezTo>
                  <a:pt x="1946353" y="260355"/>
                  <a:pt x="1932938" y="265911"/>
                  <a:pt x="1918950" y="265911"/>
                </a:cubicBezTo>
                <a:lnTo>
                  <a:pt x="52742" y="265911"/>
                </a:lnTo>
                <a:cubicBezTo>
                  <a:pt x="23613" y="265911"/>
                  <a:pt x="0" y="242298"/>
                  <a:pt x="0" y="213170"/>
                </a:cubicBezTo>
                <a:lnTo>
                  <a:pt x="0" y="52742"/>
                </a:lnTo>
                <a:cubicBezTo>
                  <a:pt x="0" y="38754"/>
                  <a:pt x="5557" y="25339"/>
                  <a:pt x="15448" y="15448"/>
                </a:cubicBezTo>
                <a:cubicBezTo>
                  <a:pt x="25339" y="5557"/>
                  <a:pt x="38754" y="0"/>
                  <a:pt x="52742" y="0"/>
                </a:cubicBezTo>
                <a:close/>
              </a:path>
            </a:pathLst>
          </a:custGeom>
          <a:solidFill>
            <a:srgbClr val="E2E3E8">
              <a:alpha val="40000"/>
            </a:srgbClr>
          </a:solidFill>
        </p:spPr>
        <p:txBody>
          <a:bodyPr/>
          <a:lstStyle/>
          <a:p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BEF499A9-03E8-42F5-FFE6-D73836D761A0}"/>
                  </a:ext>
                </a:extLst>
              </p:cNvPr>
              <p:cNvSpPr txBox="1"/>
              <p:nvPr/>
            </p:nvSpPr>
            <p:spPr>
              <a:xfrm>
                <a:off x="4267200" y="4495800"/>
                <a:ext cx="16154400" cy="19956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115"/>
                  </a:lnSpc>
                </a:pPr>
                <a:r>
                  <a:rPr lang="en-US" sz="3500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Sea un proceso de Markov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</m:ctrlPr>
                      </m:sSubPr>
                      <m:e>
                        <m: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𝑿</m:t>
                        </m:r>
                      </m:e>
                      <m:sub>
                        <m:r>
                          <a:rPr lang="es-MX" sz="3500" b="1" i="1" spc="-147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 Semi-Bold" panose="020B0604020202020204" charset="0"/>
                            <a:sym typeface="Inter Extra-Light"/>
                          </a:rPr>
                          <m:t>𝒕</m:t>
                        </m:r>
                      </m:sub>
                    </m:sSub>
                    <m:r>
                      <a:rPr lang="es-MX" sz="3500" b="1" i="1" spc="-147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Inter Semi-Bold" panose="020B0604020202020204" charset="0"/>
                        <a:sym typeface="Inter Extra-Light"/>
                      </a:rPr>
                      <m:t> </m:t>
                    </m:r>
                  </m:oMath>
                </a14:m>
                <a:r>
                  <a:rPr lang="en-US" sz="3500" b="1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 es Harris Recurrente si existe una medida </a:t>
                </a:r>
                <a:r>
                  <a:rPr lang="el-GR" sz="3500" b="1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μ</a:t>
                </a:r>
                <a:r>
                  <a:rPr lang="es-MX" sz="3500" b="1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 tal que:</a:t>
                </a:r>
              </a:p>
              <a:p>
                <a:pPr algn="l">
                  <a:lnSpc>
                    <a:spcPts val="3115"/>
                  </a:lnSpc>
                </a:pPr>
                <a:endParaRPr lang="es-MX" sz="3500" b="1" spc="-147" dirty="0">
                  <a:solidFill>
                    <a:srgbClr val="000000"/>
                  </a:solidFill>
                  <a:latin typeface="Inter Semi-Bold" panose="020B0604020202020204" charset="0"/>
                  <a:ea typeface="Inter Semi-Bold" panose="020B0604020202020204" charset="0"/>
                  <a:cs typeface="Inter Extra-Light"/>
                  <a:sym typeface="Inter Extra-Light"/>
                </a:endParaRPr>
              </a:p>
              <a:p>
                <a:pPr marL="514350" indent="-514350">
                  <a:lnSpc>
                    <a:spcPts val="3115"/>
                  </a:lnSpc>
                  <a:buFont typeface="+mj-lt"/>
                  <a:buAutoNum type="arabicPeriod"/>
                </a:pPr>
                <a:r>
                  <a:rPr lang="en-US" sz="3500" b="1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Para todo conjunto de medida positiva, la probabilidad de regresar en tiempo  finito es de 1.</a:t>
                </a:r>
              </a:p>
              <a:p>
                <a:pPr marL="514350" indent="-514350">
                  <a:lnSpc>
                    <a:spcPts val="3115"/>
                  </a:lnSpc>
                  <a:buFont typeface="+mj-lt"/>
                  <a:buAutoNum type="arabicPeriod"/>
                </a:pPr>
                <a:r>
                  <a:rPr lang="en-US" sz="3500" b="1" spc="-147" dirty="0">
                    <a:solidFill>
                      <a:srgbClr val="000000"/>
                    </a:solidFill>
                    <a:latin typeface="Inter Semi-Bold" panose="020B0604020202020204" charset="0"/>
                    <a:ea typeface="Inter Semi-Bold" panose="020B0604020202020204" charset="0"/>
                    <a:cs typeface="Inter Extra-Light"/>
                    <a:sym typeface="Inter Extra-Light"/>
                  </a:rPr>
                  <a:t>Existencia de una medida invariante.</a:t>
                </a:r>
              </a:p>
            </p:txBody>
          </p:sp>
        </mc:Choice>
        <mc:Fallback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BEF499A9-03E8-42F5-FFE6-D73836D76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495800"/>
                <a:ext cx="16154400" cy="1995675"/>
              </a:xfrm>
              <a:prstGeom prst="rect">
                <a:avLst/>
              </a:prstGeom>
              <a:blipFill>
                <a:blip r:embed="rId2"/>
                <a:stretch>
                  <a:fillRect l="-1698" t="-13761" b="-128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5">
            <a:extLst>
              <a:ext uri="{FF2B5EF4-FFF2-40B4-BE49-F238E27FC236}">
                <a16:creationId xmlns:a16="http://schemas.microsoft.com/office/drawing/2014/main" id="{820F4A9F-AFE5-9296-34E0-63886FCEF8BC}"/>
              </a:ext>
            </a:extLst>
          </p:cNvPr>
          <p:cNvSpPr txBox="1"/>
          <p:nvPr/>
        </p:nvSpPr>
        <p:spPr>
          <a:xfrm>
            <a:off x="4508691" y="8371684"/>
            <a:ext cx="16764000" cy="199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15"/>
              </a:lnSpc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Lo cual nos garantiza:</a:t>
            </a:r>
          </a:p>
          <a:p>
            <a:pPr>
              <a:lnSpc>
                <a:spcPts val="3115"/>
              </a:lnSpc>
            </a:pPr>
            <a:endParaRPr lang="es-MX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El teorema ergódico para toda f integrable.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Unicidad de la medida invariante.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Ciclos de renovación formados por los conjuntos A.</a:t>
            </a:r>
          </a:p>
        </p:txBody>
      </p:sp>
    </p:spTree>
    <p:extLst>
      <p:ext uri="{BB962C8B-B14F-4D97-AF65-F5344CB8AC3E}">
        <p14:creationId xmlns:p14="http://schemas.microsoft.com/office/powerpoint/2010/main" val="98761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3F8CE-DACE-CC29-6908-2916748F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F06E5A97-6277-9198-A607-F4BEC3BE64C5}"/>
              </a:ext>
            </a:extLst>
          </p:cNvPr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934DAEED-ABF9-3EE4-0DEB-3C7650C1B25F}"/>
                </a:ext>
              </a:extLst>
            </p:cNvPr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78AF85FE-E290-F6FA-F2C2-35FF43926059}"/>
                  </a:ext>
                </a:extLst>
              </p:cNvPr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461DB64F-A891-CBE8-8AF0-B84A2B6EF6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9D006D8-957E-E1C1-4C00-C1AC8E6405D7}"/>
                </a:ext>
              </a:extLst>
            </p:cNvPr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8DBCB7E-D6F3-C62F-C74C-2AE600E1A039}"/>
                </a:ext>
              </a:extLst>
            </p:cNvPr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04</a:t>
              </a:r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4BEB03A9-5E49-F4D8-3823-B76F62334D8B}"/>
              </a:ext>
            </a:extLst>
          </p:cNvPr>
          <p:cNvSpPr txBox="1"/>
          <p:nvPr/>
        </p:nvSpPr>
        <p:spPr>
          <a:xfrm>
            <a:off x="5601107" y="2474171"/>
            <a:ext cx="13486586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Stationary Feller-Harris Process</a:t>
            </a: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6DF6CDEE-6D63-3CBE-6A3D-59484C12E891}"/>
              </a:ext>
            </a:extLst>
          </p:cNvPr>
          <p:cNvSpPr/>
          <p:nvPr/>
        </p:nvSpPr>
        <p:spPr>
          <a:xfrm>
            <a:off x="2209800" y="4343400"/>
            <a:ext cx="10591800" cy="5029200"/>
          </a:xfrm>
          <a:custGeom>
            <a:avLst/>
            <a:gdLst/>
            <a:ahLst/>
            <a:cxnLst/>
            <a:rect l="l" t="t" r="r" b="b"/>
            <a:pathLst>
              <a:path w="1971692" h="265911">
                <a:moveTo>
                  <a:pt x="52742" y="0"/>
                </a:moveTo>
                <a:lnTo>
                  <a:pt x="1918950" y="0"/>
                </a:lnTo>
                <a:cubicBezTo>
                  <a:pt x="1932938" y="0"/>
                  <a:pt x="1946353" y="5557"/>
                  <a:pt x="1956244" y="15448"/>
                </a:cubicBezTo>
                <a:cubicBezTo>
                  <a:pt x="1966135" y="25339"/>
                  <a:pt x="1971692" y="38754"/>
                  <a:pt x="1971692" y="52742"/>
                </a:cubicBezTo>
                <a:lnTo>
                  <a:pt x="1971692" y="213170"/>
                </a:lnTo>
                <a:cubicBezTo>
                  <a:pt x="1971692" y="227158"/>
                  <a:pt x="1966135" y="240573"/>
                  <a:pt x="1956244" y="250464"/>
                </a:cubicBezTo>
                <a:cubicBezTo>
                  <a:pt x="1946353" y="260355"/>
                  <a:pt x="1932938" y="265911"/>
                  <a:pt x="1918950" y="265911"/>
                </a:cubicBezTo>
                <a:lnTo>
                  <a:pt x="52742" y="265911"/>
                </a:lnTo>
                <a:cubicBezTo>
                  <a:pt x="23613" y="265911"/>
                  <a:pt x="0" y="242298"/>
                  <a:pt x="0" y="213170"/>
                </a:cubicBezTo>
                <a:lnTo>
                  <a:pt x="0" y="52742"/>
                </a:lnTo>
                <a:cubicBezTo>
                  <a:pt x="0" y="38754"/>
                  <a:pt x="5557" y="25339"/>
                  <a:pt x="15448" y="15448"/>
                </a:cubicBezTo>
                <a:cubicBezTo>
                  <a:pt x="25339" y="5557"/>
                  <a:pt x="38754" y="0"/>
                  <a:pt x="52742" y="0"/>
                </a:cubicBezTo>
                <a:close/>
              </a:path>
            </a:pathLst>
          </a:custGeom>
          <a:solidFill>
            <a:srgbClr val="E2E3E8">
              <a:alpha val="40000"/>
            </a:srgbClr>
          </a:solidFill>
        </p:spPr>
        <p:txBody>
          <a:bodyPr/>
          <a:lstStyle/>
          <a:p>
            <a:endParaRPr lang="es-MX" dirty="0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573A3017-285F-7466-1FCE-7A805EE8558E}"/>
              </a:ext>
            </a:extLst>
          </p:cNvPr>
          <p:cNvSpPr txBox="1"/>
          <p:nvPr/>
        </p:nvSpPr>
        <p:spPr>
          <a:xfrm>
            <a:off x="2606040" y="5065073"/>
            <a:ext cx="9753600" cy="358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5"/>
              </a:lnSpc>
            </a:pPr>
            <a:r>
              <a:rPr lang="es-MX" sz="3500" spc="-147" dirty="0">
                <a:solidFill>
                  <a:srgbClr val="000000"/>
                </a:solidFill>
                <a:latin typeface="Inter Semi-Bold" panose="020B0604020202020204" charset="0"/>
                <a:ea typeface="Inter Semi-Bold" panose="020B0604020202020204" charset="0"/>
                <a:cs typeface="Inter Extra-Light"/>
                <a:sym typeface="Inter Extra-Light"/>
              </a:rPr>
              <a:t>Así</a:t>
            </a:r>
            <a:r>
              <a:rPr lang="en-US" sz="3500" b="1" spc="-147" dirty="0">
                <a:solidFill>
                  <a:srgbClr val="000000"/>
                </a:solidFill>
                <a:latin typeface="Inter Semi-Bold" panose="020B0604020202020204" charset="0"/>
                <a:ea typeface="Inter Semi-Bold" panose="020B0604020202020204" charset="0"/>
                <a:cs typeface="Inter Extra-Light"/>
                <a:sym typeface="Inter Extra-Light"/>
              </a:rPr>
              <a:t> basado en estas propiedades, definimos el proceso SF-Harris que se presentará a continuación. </a:t>
            </a:r>
          </a:p>
          <a:p>
            <a:pPr algn="l">
              <a:lnSpc>
                <a:spcPts val="3115"/>
              </a:lnSpc>
            </a:pPr>
            <a:endParaRPr lang="en-US" sz="3500" b="1" spc="-147" dirty="0">
              <a:solidFill>
                <a:srgbClr val="000000"/>
              </a:solidFill>
              <a:latin typeface="Inter Semi-Bold" panose="020B0604020202020204" charset="0"/>
              <a:ea typeface="Inter Semi-Bold" panose="020B0604020202020204" charset="0"/>
              <a:cs typeface="Inter Extra-Light"/>
              <a:sym typeface="Inter Extra-Light"/>
            </a:endParaRPr>
          </a:p>
          <a:p>
            <a:pPr algn="l">
              <a:lnSpc>
                <a:spcPts val="3115"/>
              </a:lnSpc>
            </a:pPr>
            <a:endParaRPr lang="en-US" sz="3500" b="1" spc="-147" dirty="0">
              <a:solidFill>
                <a:srgbClr val="000000"/>
              </a:solidFill>
              <a:latin typeface="Inter Semi-Bold" panose="020B0604020202020204" charset="0"/>
              <a:ea typeface="Inter Semi-Bold" panose="020B0604020202020204" charset="0"/>
              <a:cs typeface="Inter Extra-Light"/>
              <a:sym typeface="Inter Extra-Light"/>
            </a:endParaRPr>
          </a:p>
          <a:p>
            <a:pPr algn="l">
              <a:lnSpc>
                <a:spcPts val="3115"/>
              </a:lnSpc>
            </a:pPr>
            <a:r>
              <a:rPr lang="en-US" sz="3500" b="1" spc="-147" dirty="0">
                <a:solidFill>
                  <a:srgbClr val="000000"/>
                </a:solidFill>
                <a:latin typeface="Inter Semi-Bold" panose="020B0604020202020204" charset="0"/>
                <a:ea typeface="Inter Semi-Bold" panose="020B0604020202020204" charset="0"/>
                <a:cs typeface="Inter Extra-Light"/>
                <a:sym typeface="Inter Extra-Light"/>
              </a:rPr>
              <a:t>El modelo establece una dinámica de transición binaria, en un tiempo exponencial, la volatilidad latente decide si quedarse en el estado actual o remuestrear de una distribución conocida Q.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59AC9F-AFBC-8E1A-A626-41A3EA9F1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38" t="-349"/>
          <a:stretch>
            <a:fillRect/>
          </a:stretch>
        </p:blipFill>
        <p:spPr>
          <a:xfrm>
            <a:off x="13258800" y="4343400"/>
            <a:ext cx="925232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2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7570" y="6778567"/>
            <a:ext cx="9145307" cy="4642475"/>
            <a:chOff x="0" y="0"/>
            <a:chExt cx="12193743" cy="618996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23438" cy="2280530"/>
              <a:chOff x="0" y="0"/>
              <a:chExt cx="1970392" cy="18542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3639975" y="0"/>
              <a:ext cx="2423438" cy="2280530"/>
              <a:chOff x="0" y="0"/>
              <a:chExt cx="1970392" cy="1854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279951" y="0"/>
              <a:ext cx="2423438" cy="2280530"/>
              <a:chOff x="0" y="0"/>
              <a:chExt cx="1970392" cy="1854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sp>
          <p:nvSpPr>
            <p:cNvPr id="9" name="AutoShape 9"/>
            <p:cNvSpPr/>
            <p:nvPr/>
          </p:nvSpPr>
          <p:spPr>
            <a:xfrm>
              <a:off x="2617677" y="1132457"/>
              <a:ext cx="741195" cy="15616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306028" y="1132457"/>
              <a:ext cx="741195" cy="15616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203896" y="2571523"/>
              <a:ext cx="15615" cy="983050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4843887" y="2511058"/>
              <a:ext cx="15615" cy="983050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533331" y="2511058"/>
              <a:ext cx="15615" cy="983050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3909437"/>
              <a:ext cx="2423438" cy="2280530"/>
              <a:chOff x="0" y="0"/>
              <a:chExt cx="1970392" cy="1854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639975" y="3909437"/>
              <a:ext cx="2423438" cy="2280530"/>
              <a:chOff x="0" y="0"/>
              <a:chExt cx="1970392" cy="1854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279951" y="3909437"/>
              <a:ext cx="2423438" cy="2280530"/>
              <a:chOff x="0" y="0"/>
              <a:chExt cx="1970392" cy="1854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10163669" y="1132457"/>
              <a:ext cx="741195" cy="15616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28761" y="534425"/>
              <a:ext cx="1550270" cy="1227297"/>
            </a:xfrm>
            <a:custGeom>
              <a:avLst/>
              <a:gdLst/>
              <a:ahLst/>
              <a:cxnLst/>
              <a:rect l="l" t="t" r="r" b="b"/>
              <a:pathLst>
                <a:path w="1550270" h="1227297">
                  <a:moveTo>
                    <a:pt x="0" y="0"/>
                  </a:moveTo>
                  <a:lnTo>
                    <a:pt x="1550270" y="0"/>
                  </a:lnTo>
                  <a:lnTo>
                    <a:pt x="1550270" y="1227296"/>
                  </a:lnTo>
                  <a:lnTo>
                    <a:pt x="0" y="1227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96634" y="4367474"/>
              <a:ext cx="1582397" cy="1252731"/>
            </a:xfrm>
            <a:custGeom>
              <a:avLst/>
              <a:gdLst/>
              <a:ahLst/>
              <a:cxnLst/>
              <a:rect l="l" t="t" r="r" b="b"/>
              <a:pathLst>
                <a:path w="1582397" h="1252731">
                  <a:moveTo>
                    <a:pt x="0" y="0"/>
                  </a:moveTo>
                  <a:lnTo>
                    <a:pt x="1582397" y="0"/>
                  </a:lnTo>
                  <a:lnTo>
                    <a:pt x="1582397" y="1252731"/>
                  </a:lnTo>
                  <a:lnTo>
                    <a:pt x="0" y="125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068303" y="4423337"/>
              <a:ext cx="1582397" cy="1252731"/>
            </a:xfrm>
            <a:custGeom>
              <a:avLst/>
              <a:gdLst/>
              <a:ahLst/>
              <a:cxnLst/>
              <a:rect l="l" t="t" r="r" b="b"/>
              <a:pathLst>
                <a:path w="1582397" h="1252731">
                  <a:moveTo>
                    <a:pt x="0" y="0"/>
                  </a:moveTo>
                  <a:lnTo>
                    <a:pt x="1582397" y="0"/>
                  </a:lnTo>
                  <a:lnTo>
                    <a:pt x="1582397" y="1252731"/>
                  </a:lnTo>
                  <a:lnTo>
                    <a:pt x="0" y="125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068303" y="506091"/>
              <a:ext cx="1582397" cy="1252731"/>
            </a:xfrm>
            <a:custGeom>
              <a:avLst/>
              <a:gdLst/>
              <a:ahLst/>
              <a:cxnLst/>
              <a:rect l="l" t="t" r="r" b="b"/>
              <a:pathLst>
                <a:path w="1582397" h="1252731">
                  <a:moveTo>
                    <a:pt x="0" y="0"/>
                  </a:moveTo>
                  <a:lnTo>
                    <a:pt x="1582397" y="0"/>
                  </a:lnTo>
                  <a:lnTo>
                    <a:pt x="1582397" y="1252731"/>
                  </a:lnTo>
                  <a:lnTo>
                    <a:pt x="0" y="125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7700471" y="534425"/>
              <a:ext cx="1582397" cy="1252731"/>
            </a:xfrm>
            <a:custGeom>
              <a:avLst/>
              <a:gdLst/>
              <a:ahLst/>
              <a:cxnLst/>
              <a:rect l="l" t="t" r="r" b="b"/>
              <a:pathLst>
                <a:path w="1582397" h="1252731">
                  <a:moveTo>
                    <a:pt x="0" y="0"/>
                  </a:moveTo>
                  <a:lnTo>
                    <a:pt x="1582397" y="0"/>
                  </a:lnTo>
                  <a:lnTo>
                    <a:pt x="1582397" y="1252731"/>
                  </a:lnTo>
                  <a:lnTo>
                    <a:pt x="0" y="125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630225" y="4367474"/>
              <a:ext cx="1722889" cy="1363954"/>
            </a:xfrm>
            <a:custGeom>
              <a:avLst/>
              <a:gdLst/>
              <a:ahLst/>
              <a:cxnLst/>
              <a:rect l="l" t="t" r="r" b="b"/>
              <a:pathLst>
                <a:path w="1722889" h="1363954">
                  <a:moveTo>
                    <a:pt x="0" y="0"/>
                  </a:moveTo>
                  <a:lnTo>
                    <a:pt x="1722889" y="0"/>
                  </a:lnTo>
                  <a:lnTo>
                    <a:pt x="1722889" y="1363954"/>
                  </a:lnTo>
                  <a:lnTo>
                    <a:pt x="0" y="1363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0733" y="694556"/>
              <a:ext cx="663009" cy="862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27"/>
                </a:lnSpc>
              </a:pPr>
              <a:r>
                <a:rPr lang="en-US" sz="3689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191200" y="5673413"/>
            <a:ext cx="10144469" cy="6670987"/>
            <a:chOff x="0" y="0"/>
            <a:chExt cx="13525959" cy="889465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474973"/>
              <a:ext cx="13525959" cy="841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Dónde               es la varianza latente  </a:t>
              </a:r>
            </a:p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del proceso de precios </a:t>
              </a: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Con Kernel de transición definido con la dinámica de saltos:</a:t>
              </a:r>
            </a:p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</a:t>
              </a: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Con función de emisión identidad.</a:t>
              </a: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endPara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endParaRPr>
            </a:p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Tal que sea  </a:t>
              </a:r>
            </a:p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sea una observación “con ruido” de la volatilidad spot.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806206" y="0"/>
              <a:ext cx="1582397" cy="1252731"/>
            </a:xfrm>
            <a:custGeom>
              <a:avLst/>
              <a:gdLst/>
              <a:ahLst/>
              <a:cxnLst/>
              <a:rect l="l" t="t" r="r" b="b"/>
              <a:pathLst>
                <a:path w="1582397" h="1252731">
                  <a:moveTo>
                    <a:pt x="0" y="0"/>
                  </a:moveTo>
                  <a:lnTo>
                    <a:pt x="1582397" y="0"/>
                  </a:lnTo>
                  <a:lnTo>
                    <a:pt x="1582397" y="1252731"/>
                  </a:lnTo>
                  <a:lnTo>
                    <a:pt x="0" y="125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929334" y="242395"/>
              <a:ext cx="2935157" cy="866112"/>
            </a:xfrm>
            <a:custGeom>
              <a:avLst/>
              <a:gdLst/>
              <a:ahLst/>
              <a:cxnLst/>
              <a:rect l="l" t="t" r="r" b="b"/>
              <a:pathLst>
                <a:path w="2935157" h="866112">
                  <a:moveTo>
                    <a:pt x="0" y="0"/>
                  </a:moveTo>
                  <a:lnTo>
                    <a:pt x="2935158" y="0"/>
                  </a:lnTo>
                  <a:lnTo>
                    <a:pt x="2935158" y="866112"/>
                  </a:lnTo>
                  <a:lnTo>
                    <a:pt x="0" y="866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4150122"/>
              <a:ext cx="12683073" cy="1144896"/>
            </a:xfrm>
            <a:custGeom>
              <a:avLst/>
              <a:gdLst/>
              <a:ahLst/>
              <a:cxnLst/>
              <a:rect l="l" t="t" r="r" b="b"/>
              <a:pathLst>
                <a:path w="12683073" h="1144896">
                  <a:moveTo>
                    <a:pt x="0" y="0"/>
                  </a:moveTo>
                  <a:lnTo>
                    <a:pt x="12683073" y="0"/>
                  </a:lnTo>
                  <a:lnTo>
                    <a:pt x="12683073" y="1144896"/>
                  </a:lnTo>
                  <a:lnTo>
                    <a:pt x="0" y="114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597405" y="7040212"/>
              <a:ext cx="1722889" cy="1363954"/>
            </a:xfrm>
            <a:custGeom>
              <a:avLst/>
              <a:gdLst/>
              <a:ahLst/>
              <a:cxnLst/>
              <a:rect l="l" t="t" r="r" b="b"/>
              <a:pathLst>
                <a:path w="1722889" h="1363954">
                  <a:moveTo>
                    <a:pt x="0" y="0"/>
                  </a:moveTo>
                  <a:lnTo>
                    <a:pt x="1722889" y="0"/>
                  </a:lnTo>
                  <a:lnTo>
                    <a:pt x="1722889" y="1363954"/>
                  </a:lnTo>
                  <a:lnTo>
                    <a:pt x="0" y="1363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71600" y="2750281"/>
            <a:ext cx="969280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STATE - </a:t>
            </a:r>
            <a:r>
              <a:rPr lang="en-US" sz="7500" spc="-315" dirty="0">
                <a:solidFill>
                  <a:srgbClr val="AFC0D2"/>
                </a:solidFill>
                <a:latin typeface="Inter"/>
                <a:ea typeface="Inter"/>
                <a:cs typeface="Inter"/>
                <a:sym typeface="Inter"/>
              </a:rPr>
              <a:t>SPACE MODEL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1600" y="4836569"/>
            <a:ext cx="6317490" cy="43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Planteamos a priori el SSM como: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371600" y="5855209"/>
            <a:ext cx="10457248" cy="6489191"/>
            <a:chOff x="0" y="0"/>
            <a:chExt cx="2065629" cy="128181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65629" cy="1281815"/>
            </a:xfrm>
            <a:custGeom>
              <a:avLst/>
              <a:gdLst/>
              <a:ahLst/>
              <a:cxnLst/>
              <a:rect l="l" t="t" r="r" b="b"/>
              <a:pathLst>
                <a:path w="2065629" h="1281815">
                  <a:moveTo>
                    <a:pt x="40719" y="0"/>
                  </a:moveTo>
                  <a:lnTo>
                    <a:pt x="2024911" y="0"/>
                  </a:lnTo>
                  <a:cubicBezTo>
                    <a:pt x="2035710" y="0"/>
                    <a:pt x="2046067" y="4290"/>
                    <a:pt x="2053703" y="11926"/>
                  </a:cubicBezTo>
                  <a:cubicBezTo>
                    <a:pt x="2061339" y="19562"/>
                    <a:pt x="2065629" y="29919"/>
                    <a:pt x="2065629" y="40719"/>
                  </a:cubicBezTo>
                  <a:lnTo>
                    <a:pt x="2065629" y="1241097"/>
                  </a:lnTo>
                  <a:cubicBezTo>
                    <a:pt x="2065629" y="1251896"/>
                    <a:pt x="2061339" y="1262253"/>
                    <a:pt x="2053703" y="1269889"/>
                  </a:cubicBezTo>
                  <a:cubicBezTo>
                    <a:pt x="2046067" y="1277526"/>
                    <a:pt x="2035710" y="1281815"/>
                    <a:pt x="2024911" y="1281815"/>
                  </a:cubicBezTo>
                  <a:lnTo>
                    <a:pt x="40719" y="1281815"/>
                  </a:lnTo>
                  <a:cubicBezTo>
                    <a:pt x="29919" y="1281815"/>
                    <a:pt x="19562" y="1277526"/>
                    <a:pt x="11926" y="1269889"/>
                  </a:cubicBezTo>
                  <a:cubicBezTo>
                    <a:pt x="4290" y="1262253"/>
                    <a:pt x="0" y="1251896"/>
                    <a:pt x="0" y="1241097"/>
                  </a:cubicBezTo>
                  <a:lnTo>
                    <a:pt x="0" y="40719"/>
                  </a:lnTo>
                  <a:cubicBezTo>
                    <a:pt x="0" y="29919"/>
                    <a:pt x="4290" y="19562"/>
                    <a:pt x="11926" y="11926"/>
                  </a:cubicBezTo>
                  <a:cubicBezTo>
                    <a:pt x="19562" y="4290"/>
                    <a:pt x="29919" y="0"/>
                    <a:pt x="40719" y="0"/>
                  </a:cubicBezTo>
                  <a:close/>
                </a:path>
              </a:pathLst>
            </a:custGeom>
            <a:ln w="9525" cap="rnd">
              <a:solidFill>
                <a:srgbClr val="B7B7B7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065629" cy="1329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2"/>
                </a:lnSpc>
              </a:pPr>
              <a:endParaRPr dirty="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2083" y="4670444"/>
            <a:ext cx="8936698" cy="3926900"/>
            <a:chOff x="0" y="0"/>
            <a:chExt cx="11915597" cy="5235867"/>
          </a:xfrm>
        </p:grpSpPr>
        <p:grpSp>
          <p:nvGrpSpPr>
            <p:cNvPr id="3" name="Group 3"/>
            <p:cNvGrpSpPr/>
            <p:nvPr/>
          </p:nvGrpSpPr>
          <p:grpSpPr>
            <a:xfrm>
              <a:off x="4534446" y="3282290"/>
              <a:ext cx="1970392" cy="1854200"/>
              <a:chOff x="0" y="0"/>
              <a:chExt cx="1970392" cy="18542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4820762" y="3650370"/>
              <a:ext cx="1412260" cy="1118039"/>
            </a:xfrm>
            <a:custGeom>
              <a:avLst/>
              <a:gdLst/>
              <a:ahLst/>
              <a:cxnLst/>
              <a:rect l="l" t="t" r="r" b="b"/>
              <a:pathLst>
                <a:path w="1412260" h="1118039">
                  <a:moveTo>
                    <a:pt x="0" y="0"/>
                  </a:moveTo>
                  <a:lnTo>
                    <a:pt x="1412260" y="0"/>
                  </a:lnTo>
                  <a:lnTo>
                    <a:pt x="1412260" y="1118039"/>
                  </a:lnTo>
                  <a:lnTo>
                    <a:pt x="0" y="1118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51308"/>
              <a:ext cx="2640736" cy="2522792"/>
              <a:chOff x="0" y="0"/>
              <a:chExt cx="2640736" cy="252279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640711" cy="2522728"/>
              </a:xfrm>
              <a:custGeom>
                <a:avLst/>
                <a:gdLst/>
                <a:ahLst/>
                <a:cxnLst/>
                <a:rect l="l" t="t" r="r" b="b"/>
                <a:pathLst>
                  <a:path w="2640711" h="2522728">
                    <a:moveTo>
                      <a:pt x="0" y="1261364"/>
                    </a:moveTo>
                    <a:cubicBezTo>
                      <a:pt x="0" y="564769"/>
                      <a:pt x="591185" y="0"/>
                      <a:pt x="1320419" y="0"/>
                    </a:cubicBezTo>
                    <a:cubicBezTo>
                      <a:pt x="2049653" y="0"/>
                      <a:pt x="2640711" y="564769"/>
                      <a:pt x="2640711" y="1261364"/>
                    </a:cubicBezTo>
                    <a:cubicBezTo>
                      <a:pt x="2640711" y="1957959"/>
                      <a:pt x="2049526" y="2522728"/>
                      <a:pt x="1320292" y="2522728"/>
                    </a:cubicBezTo>
                    <a:cubicBezTo>
                      <a:pt x="591058" y="2522728"/>
                      <a:pt x="0" y="1958086"/>
                      <a:pt x="0" y="1261364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3006081" y="1168694"/>
              <a:ext cx="602634" cy="12697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7185689" y="1139204"/>
              <a:ext cx="602634" cy="12697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314014" y="2601449"/>
              <a:ext cx="12696" cy="799275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5514196" y="2503747"/>
              <a:ext cx="12696" cy="799275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083290" y="2555055"/>
              <a:ext cx="12696" cy="799275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35178" y="3381667"/>
              <a:ext cx="1970392" cy="1854200"/>
              <a:chOff x="0" y="0"/>
              <a:chExt cx="1970392" cy="1854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948968" y="3381667"/>
              <a:ext cx="1970392" cy="1854200"/>
              <a:chOff x="0" y="0"/>
              <a:chExt cx="1970392" cy="1854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70278" cy="1854200"/>
              </a:xfrm>
              <a:custGeom>
                <a:avLst/>
                <a:gdLst/>
                <a:ahLst/>
                <a:cxnLst/>
                <a:rect l="l" t="t" r="r" b="b"/>
                <a:pathLst>
                  <a:path w="1970278" h="1854200">
                    <a:moveTo>
                      <a:pt x="0" y="927100"/>
                    </a:moveTo>
                    <a:cubicBezTo>
                      <a:pt x="0" y="415036"/>
                      <a:pt x="441071" y="0"/>
                      <a:pt x="985139" y="0"/>
                    </a:cubicBezTo>
                    <a:cubicBezTo>
                      <a:pt x="1529207" y="0"/>
                      <a:pt x="1970278" y="415036"/>
                      <a:pt x="1970278" y="927100"/>
                    </a:cubicBezTo>
                    <a:cubicBezTo>
                      <a:pt x="1970278" y="1439164"/>
                      <a:pt x="1529207" y="1854200"/>
                      <a:pt x="985139" y="1854200"/>
                    </a:cubicBezTo>
                    <a:cubicBezTo>
                      <a:pt x="441071" y="1854200"/>
                      <a:pt x="0" y="1439164"/>
                      <a:pt x="0" y="927100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sp>
          <p:nvSpPr>
            <p:cNvPr id="17" name="AutoShape 17"/>
            <p:cNvSpPr/>
            <p:nvPr/>
          </p:nvSpPr>
          <p:spPr>
            <a:xfrm>
              <a:off x="10560003" y="1139204"/>
              <a:ext cx="602634" cy="12697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s-MX" dirty="0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839989" y="0"/>
              <a:ext cx="2640736" cy="2522792"/>
              <a:chOff x="0" y="0"/>
              <a:chExt cx="2640736" cy="252279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640711" cy="2522728"/>
              </a:xfrm>
              <a:custGeom>
                <a:avLst/>
                <a:gdLst/>
                <a:ahLst/>
                <a:cxnLst/>
                <a:rect l="l" t="t" r="r" b="b"/>
                <a:pathLst>
                  <a:path w="2640711" h="2522728">
                    <a:moveTo>
                      <a:pt x="0" y="1261364"/>
                    </a:moveTo>
                    <a:cubicBezTo>
                      <a:pt x="0" y="564769"/>
                      <a:pt x="591185" y="0"/>
                      <a:pt x="1320419" y="0"/>
                    </a:cubicBezTo>
                    <a:cubicBezTo>
                      <a:pt x="2049653" y="0"/>
                      <a:pt x="2640711" y="564769"/>
                      <a:pt x="2640711" y="1261364"/>
                    </a:cubicBezTo>
                    <a:cubicBezTo>
                      <a:pt x="2640711" y="1957959"/>
                      <a:pt x="2049526" y="2522728"/>
                      <a:pt x="1320292" y="2522728"/>
                    </a:cubicBezTo>
                    <a:cubicBezTo>
                      <a:pt x="591058" y="2522728"/>
                      <a:pt x="0" y="1958086"/>
                      <a:pt x="0" y="1261364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199268" y="0"/>
              <a:ext cx="2640736" cy="2522792"/>
              <a:chOff x="0" y="0"/>
              <a:chExt cx="2640736" cy="252279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640711" cy="2522728"/>
              </a:xfrm>
              <a:custGeom>
                <a:avLst/>
                <a:gdLst/>
                <a:ahLst/>
                <a:cxnLst/>
                <a:rect l="l" t="t" r="r" b="b"/>
                <a:pathLst>
                  <a:path w="2640711" h="2522728">
                    <a:moveTo>
                      <a:pt x="0" y="1261364"/>
                    </a:moveTo>
                    <a:cubicBezTo>
                      <a:pt x="0" y="564769"/>
                      <a:pt x="591185" y="0"/>
                      <a:pt x="1320419" y="0"/>
                    </a:cubicBezTo>
                    <a:cubicBezTo>
                      <a:pt x="2049653" y="0"/>
                      <a:pt x="2640711" y="564769"/>
                      <a:pt x="2640711" y="1261364"/>
                    </a:cubicBezTo>
                    <a:cubicBezTo>
                      <a:pt x="2640711" y="1957959"/>
                      <a:pt x="2049526" y="2522728"/>
                      <a:pt x="1320292" y="2522728"/>
                    </a:cubicBezTo>
                    <a:cubicBezTo>
                      <a:pt x="591058" y="2522728"/>
                      <a:pt x="0" y="1958086"/>
                      <a:pt x="0" y="1261364"/>
                    </a:cubicBezTo>
                    <a:close/>
                  </a:path>
                </a:pathLst>
              </a:custGeom>
              <a:solidFill>
                <a:srgbClr val="DEE1E6"/>
              </a:solidFill>
              <a:ln w="19050" cap="sq">
                <a:solidFill>
                  <a:srgbClr val="DEE1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70601" y="801780"/>
              <a:ext cx="2286826" cy="1023952"/>
            </a:xfrm>
            <a:custGeom>
              <a:avLst/>
              <a:gdLst/>
              <a:ahLst/>
              <a:cxnLst/>
              <a:rect l="l" t="t" r="r" b="b"/>
              <a:pathLst>
                <a:path w="2286826" h="1023952">
                  <a:moveTo>
                    <a:pt x="0" y="0"/>
                  </a:moveTo>
                  <a:lnTo>
                    <a:pt x="2286826" y="0"/>
                  </a:lnTo>
                  <a:lnTo>
                    <a:pt x="2286826" y="1023952"/>
                  </a:lnTo>
                  <a:lnTo>
                    <a:pt x="0" y="1023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76865" y="802831"/>
              <a:ext cx="2074662" cy="1021848"/>
            </a:xfrm>
            <a:custGeom>
              <a:avLst/>
              <a:gdLst/>
              <a:ahLst/>
              <a:cxnLst/>
              <a:rect l="l" t="t" r="r" b="b"/>
              <a:pathLst>
                <a:path w="2074662" h="1021848">
                  <a:moveTo>
                    <a:pt x="0" y="0"/>
                  </a:moveTo>
                  <a:lnTo>
                    <a:pt x="2074662" y="0"/>
                  </a:lnTo>
                  <a:lnTo>
                    <a:pt x="2074662" y="1021849"/>
                  </a:lnTo>
                  <a:lnTo>
                    <a:pt x="0" y="1021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250135" y="879022"/>
              <a:ext cx="1820445" cy="869466"/>
            </a:xfrm>
            <a:custGeom>
              <a:avLst/>
              <a:gdLst/>
              <a:ahLst/>
              <a:cxnLst/>
              <a:rect l="l" t="t" r="r" b="b"/>
              <a:pathLst>
                <a:path w="1820445" h="869466">
                  <a:moveTo>
                    <a:pt x="0" y="0"/>
                  </a:moveTo>
                  <a:lnTo>
                    <a:pt x="1820445" y="0"/>
                  </a:lnTo>
                  <a:lnTo>
                    <a:pt x="1820445" y="869467"/>
                  </a:lnTo>
                  <a:lnTo>
                    <a:pt x="0" y="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7884" y="3749747"/>
              <a:ext cx="1412260" cy="1118039"/>
            </a:xfrm>
            <a:custGeom>
              <a:avLst/>
              <a:gdLst/>
              <a:ahLst/>
              <a:cxnLst/>
              <a:rect l="l" t="t" r="r" b="b"/>
              <a:pathLst>
                <a:path w="1412260" h="1118039">
                  <a:moveTo>
                    <a:pt x="0" y="0"/>
                  </a:moveTo>
                  <a:lnTo>
                    <a:pt x="1412260" y="0"/>
                  </a:lnTo>
                  <a:lnTo>
                    <a:pt x="1412260" y="1118040"/>
                  </a:lnTo>
                  <a:lnTo>
                    <a:pt x="0" y="111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8228034" y="3749747"/>
              <a:ext cx="1412260" cy="1118039"/>
            </a:xfrm>
            <a:custGeom>
              <a:avLst/>
              <a:gdLst/>
              <a:ahLst/>
              <a:cxnLst/>
              <a:rect l="l" t="t" r="r" b="b"/>
              <a:pathLst>
                <a:path w="1412260" h="1118039">
                  <a:moveTo>
                    <a:pt x="0" y="0"/>
                  </a:moveTo>
                  <a:lnTo>
                    <a:pt x="1412260" y="0"/>
                  </a:lnTo>
                  <a:lnTo>
                    <a:pt x="1412260" y="1118040"/>
                  </a:lnTo>
                  <a:lnTo>
                    <a:pt x="0" y="111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6533" y="816851"/>
              <a:ext cx="539064" cy="697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28848" y="4216455"/>
            <a:ext cx="11695913" cy="6196739"/>
            <a:chOff x="0" y="0"/>
            <a:chExt cx="15594550" cy="8262319"/>
          </a:xfrm>
        </p:grpSpPr>
        <p:sp>
          <p:nvSpPr>
            <p:cNvPr id="29" name="Freeform 29"/>
            <p:cNvSpPr/>
            <p:nvPr/>
          </p:nvSpPr>
          <p:spPr>
            <a:xfrm>
              <a:off x="0" y="956433"/>
              <a:ext cx="11697330" cy="1037666"/>
            </a:xfrm>
            <a:custGeom>
              <a:avLst/>
              <a:gdLst/>
              <a:ahLst/>
              <a:cxnLst/>
              <a:rect l="l" t="t" r="r" b="b"/>
              <a:pathLst>
                <a:path w="11697330" h="1037666">
                  <a:moveTo>
                    <a:pt x="0" y="0"/>
                  </a:moveTo>
                  <a:lnTo>
                    <a:pt x="11697330" y="0"/>
                  </a:lnTo>
                  <a:lnTo>
                    <a:pt x="11697330" y="1037666"/>
                  </a:lnTo>
                  <a:lnTo>
                    <a:pt x="0" y="10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464883" y="2775602"/>
              <a:ext cx="1060657" cy="1325822"/>
            </a:xfrm>
            <a:custGeom>
              <a:avLst/>
              <a:gdLst/>
              <a:ahLst/>
              <a:cxnLst/>
              <a:rect l="l" t="t" r="r" b="b"/>
              <a:pathLst>
                <a:path w="1060657" h="1325822">
                  <a:moveTo>
                    <a:pt x="0" y="0"/>
                  </a:moveTo>
                  <a:lnTo>
                    <a:pt x="1060657" y="0"/>
                  </a:lnTo>
                  <a:lnTo>
                    <a:pt x="1060657" y="1325821"/>
                  </a:lnTo>
                  <a:lnTo>
                    <a:pt x="0" y="132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647978" y="5193623"/>
              <a:ext cx="4461229" cy="1786610"/>
            </a:xfrm>
            <a:custGeom>
              <a:avLst/>
              <a:gdLst/>
              <a:ahLst/>
              <a:cxnLst/>
              <a:rect l="l" t="t" r="r" b="b"/>
              <a:pathLst>
                <a:path w="4461229" h="1786610">
                  <a:moveTo>
                    <a:pt x="0" y="0"/>
                  </a:moveTo>
                  <a:lnTo>
                    <a:pt x="4461230" y="0"/>
                  </a:lnTo>
                  <a:lnTo>
                    <a:pt x="4461230" y="1786611"/>
                  </a:lnTo>
                  <a:lnTo>
                    <a:pt x="0" y="1786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343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392783" y="7504259"/>
              <a:ext cx="3255195" cy="758059"/>
            </a:xfrm>
            <a:custGeom>
              <a:avLst/>
              <a:gdLst/>
              <a:ahLst/>
              <a:cxnLst/>
              <a:rect l="l" t="t" r="r" b="b"/>
              <a:pathLst>
                <a:path w="3255195" h="758059">
                  <a:moveTo>
                    <a:pt x="0" y="0"/>
                  </a:moveTo>
                  <a:lnTo>
                    <a:pt x="3255195" y="0"/>
                  </a:lnTo>
                  <a:lnTo>
                    <a:pt x="3255195" y="758060"/>
                  </a:lnTo>
                  <a:lnTo>
                    <a:pt x="0" y="758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5250"/>
              <a:ext cx="11697330" cy="609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Partimos del modelo planteado en BNR, 2004: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2905324"/>
              <a:ext cx="15518044" cy="1904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0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Y donde             es la función de periodicidad intradía de la volatilidad, asociada a la </a:t>
              </a:r>
              <a:r>
                <a:rPr lang="en-US" sz="3500" b="1" spc="-147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U-Shape</a:t>
              </a: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5829965"/>
              <a:ext cx="15594550" cy="609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Y así definimos las observaciones                                       tal que: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71600" y="4216455"/>
            <a:ext cx="9657663" cy="4834878"/>
            <a:chOff x="0" y="0"/>
            <a:chExt cx="1907687" cy="95503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07687" cy="955038"/>
            </a:xfrm>
            <a:custGeom>
              <a:avLst/>
              <a:gdLst/>
              <a:ahLst/>
              <a:cxnLst/>
              <a:rect l="l" t="t" r="r" b="b"/>
              <a:pathLst>
                <a:path w="1907687" h="955038">
                  <a:moveTo>
                    <a:pt x="44090" y="0"/>
                  </a:moveTo>
                  <a:lnTo>
                    <a:pt x="1863597" y="0"/>
                  </a:lnTo>
                  <a:cubicBezTo>
                    <a:pt x="1887947" y="0"/>
                    <a:pt x="1907687" y="19740"/>
                    <a:pt x="1907687" y="44090"/>
                  </a:cubicBezTo>
                  <a:lnTo>
                    <a:pt x="1907687" y="910948"/>
                  </a:lnTo>
                  <a:cubicBezTo>
                    <a:pt x="1907687" y="935298"/>
                    <a:pt x="1887947" y="955038"/>
                    <a:pt x="1863597" y="955038"/>
                  </a:cubicBezTo>
                  <a:lnTo>
                    <a:pt x="44090" y="955038"/>
                  </a:lnTo>
                  <a:cubicBezTo>
                    <a:pt x="32397" y="955038"/>
                    <a:pt x="21182" y="950392"/>
                    <a:pt x="12914" y="942124"/>
                  </a:cubicBezTo>
                  <a:cubicBezTo>
                    <a:pt x="4645" y="933855"/>
                    <a:pt x="0" y="922641"/>
                    <a:pt x="0" y="910948"/>
                  </a:cubicBezTo>
                  <a:lnTo>
                    <a:pt x="0" y="44090"/>
                  </a:lnTo>
                  <a:cubicBezTo>
                    <a:pt x="0" y="19740"/>
                    <a:pt x="19740" y="0"/>
                    <a:pt x="44090" y="0"/>
                  </a:cubicBezTo>
                  <a:close/>
                </a:path>
              </a:pathLst>
            </a:custGeom>
            <a:ln w="9525" cap="rnd">
              <a:solidFill>
                <a:srgbClr val="B7B7B7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907687" cy="100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2"/>
                </a:lnSpc>
              </a:pPr>
              <a:endParaRPr dirty="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2197" y="4871822"/>
            <a:ext cx="22038405" cy="6063966"/>
            <a:chOff x="0" y="0"/>
            <a:chExt cx="29384540" cy="8085287"/>
          </a:xfrm>
        </p:grpSpPr>
        <p:grpSp>
          <p:nvGrpSpPr>
            <p:cNvPr id="3" name="Group 3"/>
            <p:cNvGrpSpPr/>
            <p:nvPr/>
          </p:nvGrpSpPr>
          <p:grpSpPr>
            <a:xfrm>
              <a:off x="16075621" y="0"/>
              <a:ext cx="13199760" cy="3887985"/>
              <a:chOff x="0" y="0"/>
              <a:chExt cx="1955520" cy="57599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55520" cy="575998"/>
              </a:xfrm>
              <a:custGeom>
                <a:avLst/>
                <a:gdLst/>
                <a:ahLst/>
                <a:cxnLst/>
                <a:rect l="l" t="t" r="r" b="b"/>
                <a:pathLst>
                  <a:path w="1955520" h="575998">
                    <a:moveTo>
                      <a:pt x="53178" y="0"/>
                    </a:moveTo>
                    <a:lnTo>
                      <a:pt x="1902342" y="0"/>
                    </a:lnTo>
                    <a:cubicBezTo>
                      <a:pt x="1916446" y="0"/>
                      <a:pt x="1929972" y="5603"/>
                      <a:pt x="1939945" y="15575"/>
                    </a:cubicBezTo>
                    <a:cubicBezTo>
                      <a:pt x="1949917" y="25548"/>
                      <a:pt x="1955520" y="39074"/>
                      <a:pt x="1955520" y="53178"/>
                    </a:cubicBezTo>
                    <a:lnTo>
                      <a:pt x="1955520" y="522820"/>
                    </a:lnTo>
                    <a:cubicBezTo>
                      <a:pt x="1955520" y="536924"/>
                      <a:pt x="1949917" y="550450"/>
                      <a:pt x="1939945" y="560422"/>
                    </a:cubicBezTo>
                    <a:cubicBezTo>
                      <a:pt x="1929972" y="570395"/>
                      <a:pt x="1916446" y="575998"/>
                      <a:pt x="1902342" y="575998"/>
                    </a:cubicBezTo>
                    <a:lnTo>
                      <a:pt x="53178" y="575998"/>
                    </a:lnTo>
                    <a:cubicBezTo>
                      <a:pt x="39074" y="575998"/>
                      <a:pt x="25548" y="570395"/>
                      <a:pt x="15575" y="560422"/>
                    </a:cubicBezTo>
                    <a:cubicBezTo>
                      <a:pt x="5603" y="550450"/>
                      <a:pt x="0" y="536924"/>
                      <a:pt x="0" y="522820"/>
                    </a:cubicBezTo>
                    <a:lnTo>
                      <a:pt x="0" y="53178"/>
                    </a:lnTo>
                    <a:cubicBezTo>
                      <a:pt x="0" y="39074"/>
                      <a:pt x="5603" y="25548"/>
                      <a:pt x="15575" y="15575"/>
                    </a:cubicBezTo>
                    <a:cubicBezTo>
                      <a:pt x="25548" y="5603"/>
                      <a:pt x="39074" y="0"/>
                      <a:pt x="53178" y="0"/>
                    </a:cubicBezTo>
                    <a:close/>
                  </a:path>
                </a:pathLst>
              </a:custGeom>
              <a:solidFill>
                <a:srgbClr val="DEDFE7">
                  <a:alpha val="40000"/>
                </a:srgb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95250"/>
                <a:ext cx="1955520" cy="480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5"/>
                  </a:lnSpc>
                </a:pPr>
                <a:endParaRPr dirty="0"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24660209" y="1464501"/>
              <a:ext cx="2854342" cy="2055126"/>
            </a:xfrm>
            <a:custGeom>
              <a:avLst/>
              <a:gdLst/>
              <a:ahLst/>
              <a:cxnLst/>
              <a:rect l="l" t="t" r="r" b="b"/>
              <a:pathLst>
                <a:path w="2854342" h="2055126">
                  <a:moveTo>
                    <a:pt x="0" y="0"/>
                  </a:moveTo>
                  <a:lnTo>
                    <a:pt x="2854342" y="0"/>
                  </a:lnTo>
                  <a:lnTo>
                    <a:pt x="2854342" y="2055126"/>
                  </a:lnTo>
                  <a:lnTo>
                    <a:pt x="0" y="2055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969242" y="524504"/>
              <a:ext cx="10545309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1. A partir de los precios 15-min        , 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  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  calculamos los log-retornos:= 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4660209" y="368358"/>
              <a:ext cx="644092" cy="968946"/>
            </a:xfrm>
            <a:custGeom>
              <a:avLst/>
              <a:gdLst/>
              <a:ahLst/>
              <a:cxnLst/>
              <a:rect l="l" t="t" r="r" b="b"/>
              <a:pathLst>
                <a:path w="644092" h="968946">
                  <a:moveTo>
                    <a:pt x="0" y="0"/>
                  </a:moveTo>
                  <a:lnTo>
                    <a:pt x="644093" y="0"/>
                  </a:lnTo>
                  <a:lnTo>
                    <a:pt x="644093" y="968946"/>
                  </a:lnTo>
                  <a:lnTo>
                    <a:pt x="0" y="968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5112" r="-98044" b="-112099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6075621" y="4248483"/>
              <a:ext cx="13308919" cy="3836804"/>
              <a:chOff x="0" y="0"/>
              <a:chExt cx="1971692" cy="5684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71692" cy="568415"/>
              </a:xfrm>
              <a:custGeom>
                <a:avLst/>
                <a:gdLst/>
                <a:ahLst/>
                <a:cxnLst/>
                <a:rect l="l" t="t" r="r" b="b"/>
                <a:pathLst>
                  <a:path w="1971692" h="568415">
                    <a:moveTo>
                      <a:pt x="52742" y="0"/>
                    </a:moveTo>
                    <a:lnTo>
                      <a:pt x="1918950" y="0"/>
                    </a:lnTo>
                    <a:cubicBezTo>
                      <a:pt x="1932938" y="0"/>
                      <a:pt x="1946353" y="5557"/>
                      <a:pt x="1956244" y="15448"/>
                    </a:cubicBezTo>
                    <a:cubicBezTo>
                      <a:pt x="1966135" y="25339"/>
                      <a:pt x="1971692" y="38754"/>
                      <a:pt x="1971692" y="52742"/>
                    </a:cubicBezTo>
                    <a:lnTo>
                      <a:pt x="1971692" y="515674"/>
                    </a:lnTo>
                    <a:cubicBezTo>
                      <a:pt x="1971692" y="544802"/>
                      <a:pt x="1948078" y="568415"/>
                      <a:pt x="1918950" y="568415"/>
                    </a:cubicBezTo>
                    <a:lnTo>
                      <a:pt x="52742" y="568415"/>
                    </a:lnTo>
                    <a:cubicBezTo>
                      <a:pt x="38754" y="568415"/>
                      <a:pt x="25339" y="562859"/>
                      <a:pt x="15448" y="552968"/>
                    </a:cubicBezTo>
                    <a:cubicBezTo>
                      <a:pt x="5557" y="543077"/>
                      <a:pt x="0" y="529662"/>
                      <a:pt x="0" y="515674"/>
                    </a:cubicBezTo>
                    <a:lnTo>
                      <a:pt x="0" y="52742"/>
                    </a:lnTo>
                    <a:cubicBezTo>
                      <a:pt x="0" y="38754"/>
                      <a:pt x="5557" y="25339"/>
                      <a:pt x="15448" y="15448"/>
                    </a:cubicBezTo>
                    <a:cubicBezTo>
                      <a:pt x="25339" y="5557"/>
                      <a:pt x="38754" y="0"/>
                      <a:pt x="52742" y="0"/>
                    </a:cubicBezTo>
                    <a:close/>
                  </a:path>
                </a:pathLst>
              </a:custGeom>
              <a:solidFill>
                <a:srgbClr val="B0BFD2">
                  <a:alpha val="40000"/>
                </a:srgb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95250"/>
                <a:ext cx="1971692" cy="4731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5"/>
                  </a:lnSpc>
                </a:pPr>
                <a:endParaRPr dirty="0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9341292" y="6441038"/>
              <a:ext cx="6777577" cy="1253146"/>
            </a:xfrm>
            <a:custGeom>
              <a:avLst/>
              <a:gdLst/>
              <a:ahLst/>
              <a:cxnLst/>
              <a:rect l="l" t="t" r="r" b="b"/>
              <a:pathLst>
                <a:path w="6777577" h="1253146">
                  <a:moveTo>
                    <a:pt x="0" y="0"/>
                  </a:moveTo>
                  <a:lnTo>
                    <a:pt x="6777577" y="0"/>
                  </a:lnTo>
                  <a:lnTo>
                    <a:pt x="6777577" y="1253146"/>
                  </a:lnTo>
                  <a:lnTo>
                    <a:pt x="0" y="1253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25457" y="4466715"/>
              <a:ext cx="11609248" cy="1608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2. Posteriormente suavizamos la serie restando una fracción de la variación cuadrática.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106447"/>
              <a:ext cx="15510969" cy="7872393"/>
              <a:chOff x="0" y="0"/>
              <a:chExt cx="17634768" cy="89503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634730" cy="8950325"/>
              </a:xfrm>
              <a:custGeom>
                <a:avLst/>
                <a:gdLst/>
                <a:ahLst/>
                <a:cxnLst/>
                <a:rect l="l" t="t" r="r" b="b"/>
                <a:pathLst>
                  <a:path w="17634730" h="8950325">
                    <a:moveTo>
                      <a:pt x="0" y="0"/>
                    </a:moveTo>
                    <a:lnTo>
                      <a:pt x="17634730" y="0"/>
                    </a:lnTo>
                    <a:lnTo>
                      <a:pt x="17634730" y="8950325"/>
                    </a:lnTo>
                    <a:lnTo>
                      <a:pt x="0" y="89503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955" t="-832" r="-839" b="-178"/>
                </a:stretch>
              </a:blipFill>
            </p:spPr>
            <p:txBody>
              <a:bodyPr/>
              <a:lstStyle/>
              <a:p>
                <a:endParaRPr lang="es-MX" dirty="0"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04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5014" y="2568792"/>
            <a:ext cx="10895786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DATA TRANSFORMATION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3003" y="4654767"/>
            <a:ext cx="9981689" cy="1346176"/>
            <a:chOff x="0" y="0"/>
            <a:chExt cx="1971692" cy="26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1692" cy="265911"/>
            </a:xfrm>
            <a:custGeom>
              <a:avLst/>
              <a:gdLst/>
              <a:ahLst/>
              <a:cxnLst/>
              <a:rect l="l" t="t" r="r" b="b"/>
              <a:pathLst>
                <a:path w="1971692" h="265911">
                  <a:moveTo>
                    <a:pt x="52742" y="0"/>
                  </a:moveTo>
                  <a:lnTo>
                    <a:pt x="1918950" y="0"/>
                  </a:lnTo>
                  <a:cubicBezTo>
                    <a:pt x="1932938" y="0"/>
                    <a:pt x="1946353" y="5557"/>
                    <a:pt x="1956244" y="15448"/>
                  </a:cubicBezTo>
                  <a:cubicBezTo>
                    <a:pt x="1966135" y="25339"/>
                    <a:pt x="1971692" y="38754"/>
                    <a:pt x="1971692" y="52742"/>
                  </a:cubicBezTo>
                  <a:lnTo>
                    <a:pt x="1971692" y="213170"/>
                  </a:lnTo>
                  <a:cubicBezTo>
                    <a:pt x="1971692" y="227158"/>
                    <a:pt x="1966135" y="240573"/>
                    <a:pt x="1956244" y="250464"/>
                  </a:cubicBezTo>
                  <a:cubicBezTo>
                    <a:pt x="1946353" y="260355"/>
                    <a:pt x="1932938" y="265911"/>
                    <a:pt x="1918950" y="265911"/>
                  </a:cubicBezTo>
                  <a:lnTo>
                    <a:pt x="52742" y="265911"/>
                  </a:lnTo>
                  <a:cubicBezTo>
                    <a:pt x="23613" y="265911"/>
                    <a:pt x="0" y="242298"/>
                    <a:pt x="0" y="213170"/>
                  </a:cubicBezTo>
                  <a:lnTo>
                    <a:pt x="0" y="52742"/>
                  </a:lnTo>
                  <a:cubicBezTo>
                    <a:pt x="0" y="38754"/>
                    <a:pt x="5557" y="25339"/>
                    <a:pt x="15448" y="15448"/>
                  </a:cubicBezTo>
                  <a:cubicBezTo>
                    <a:pt x="25339" y="5557"/>
                    <a:pt x="38754" y="0"/>
                    <a:pt x="52742" y="0"/>
                  </a:cubicBezTo>
                  <a:close/>
                </a:path>
              </a:pathLst>
            </a:custGeom>
            <a:solidFill>
              <a:srgbClr val="E2E3E8">
                <a:alpha val="40000"/>
              </a:srgbClr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1971692" cy="17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5"/>
                </a:lnSpc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68200" y="5158945"/>
            <a:ext cx="8131295" cy="43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3. Removemos x% escogido de los outliers.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3003" y="6386427"/>
            <a:ext cx="20096795" cy="5346854"/>
            <a:chOff x="0" y="0"/>
            <a:chExt cx="22840950" cy="607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40950" cy="6076950"/>
            </a:xfrm>
            <a:custGeom>
              <a:avLst/>
              <a:gdLst/>
              <a:ahLst/>
              <a:cxnLst/>
              <a:rect l="l" t="t" r="r" b="b"/>
              <a:pathLst>
                <a:path w="22840950" h="6076950">
                  <a:moveTo>
                    <a:pt x="0" y="0"/>
                  </a:moveTo>
                  <a:lnTo>
                    <a:pt x="22840950" y="0"/>
                  </a:lnTo>
                  <a:lnTo>
                    <a:pt x="22840950" y="6076950"/>
                  </a:lnTo>
                  <a:lnTo>
                    <a:pt x="0" y="6076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05</a:t>
              </a:r>
            </a:p>
          </p:txBody>
        </p:sp>
      </p:grpSp>
      <p:sp>
        <p:nvSpPr>
          <p:cNvPr id="16" name="TextBox 22">
            <a:extLst>
              <a:ext uri="{FF2B5EF4-FFF2-40B4-BE49-F238E27FC236}">
                <a16:creationId xmlns:a16="http://schemas.microsoft.com/office/drawing/2014/main" id="{485A90CC-53B4-94B5-B49D-1767399740EA}"/>
              </a:ext>
            </a:extLst>
          </p:cNvPr>
          <p:cNvSpPr txBox="1"/>
          <p:nvPr/>
        </p:nvSpPr>
        <p:spPr>
          <a:xfrm>
            <a:off x="6935014" y="2568792"/>
            <a:ext cx="10895786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DATA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61513" y="9398404"/>
            <a:ext cx="3123757" cy="2201992"/>
          </a:xfrm>
          <a:custGeom>
            <a:avLst/>
            <a:gdLst/>
            <a:ahLst/>
            <a:cxnLst/>
            <a:rect l="l" t="t" r="r" b="b"/>
            <a:pathLst>
              <a:path w="3123757" h="2201992">
                <a:moveTo>
                  <a:pt x="0" y="0"/>
                </a:moveTo>
                <a:lnTo>
                  <a:pt x="3123756" y="0"/>
                </a:lnTo>
                <a:lnTo>
                  <a:pt x="3123756" y="2201992"/>
                </a:lnTo>
                <a:lnTo>
                  <a:pt x="0" y="2201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" name="TextBox 3"/>
          <p:cNvSpPr txBox="1"/>
          <p:nvPr/>
        </p:nvSpPr>
        <p:spPr>
          <a:xfrm>
            <a:off x="1371600" y="3654592"/>
            <a:ext cx="5903582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INTRADAY </a:t>
            </a: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PERIODICITY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/>
              <p:cNvSpPr txBox="1"/>
              <p:nvPr/>
            </p:nvSpPr>
            <p:spPr>
              <a:xfrm>
                <a:off x="1371600" y="5817639"/>
                <a:ext cx="7982894" cy="322834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3605"/>
                  </a:lnSpc>
                </a:pPr>
                <a:r>
                  <a:rPr lang="en-US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Para tratar la U-Shape y la no estacionariedad, dividimos los datos entre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MX" sz="3600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s-MX" sz="36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   la función empírica que a cada intervalo de tiempo le asocia el valor promedio de la volatilidad para todo el train.</a:t>
                </a:r>
              </a:p>
              <a:p>
                <a:pPr algn="l">
                  <a:lnSpc>
                    <a:spcPts val="3605"/>
                  </a:lnSpc>
                </a:pPr>
                <a:endPara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endParaRPr>
              </a:p>
              <a:p>
                <a:pPr algn="l">
                  <a:lnSpc>
                    <a:spcPts val="3605"/>
                  </a:lnSpc>
                </a:pPr>
                <a:r>
                  <a:rPr lang="en-US" sz="3500" spc="-147" dirty="0">
                    <a:solidFill>
                      <a:srgbClr val="000000"/>
                    </a:solidFill>
                    <a:latin typeface="Inter Extra-Light"/>
                    <a:ea typeface="Inter Extra-Light"/>
                    <a:cs typeface="Inter Extra-Light"/>
                    <a:sym typeface="Inter Extra-Light"/>
                  </a:rPr>
                  <a:t>Así definimos los retornos ajustados:</a:t>
                </a:r>
              </a:p>
            </p:txBody>
          </p:sp>
        </mc:Choice>
        <mc:Fallback xmlns="">
          <p:sp>
            <p:nvSpPr>
              <p:cNvPr id="4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817639"/>
                <a:ext cx="7982894" cy="3228340"/>
              </a:xfrm>
              <a:prstGeom prst="rect">
                <a:avLst/>
              </a:prstGeom>
              <a:blipFill>
                <a:blip r:embed="rId3"/>
                <a:stretch>
                  <a:fillRect l="-3359" t="-6415" r="-1298" b="-77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"/>
          <p:cNvGrpSpPr/>
          <p:nvPr/>
        </p:nvGrpSpPr>
        <p:grpSpPr>
          <a:xfrm>
            <a:off x="9965575" y="5416717"/>
            <a:ext cx="13045625" cy="6025496"/>
            <a:chOff x="0" y="0"/>
            <a:chExt cx="13226923" cy="6109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26923" cy="6109208"/>
            </a:xfrm>
            <a:custGeom>
              <a:avLst/>
              <a:gdLst/>
              <a:ahLst/>
              <a:cxnLst/>
              <a:rect l="l" t="t" r="r" b="b"/>
              <a:pathLst>
                <a:path w="13226923" h="6109208">
                  <a:moveTo>
                    <a:pt x="0" y="0"/>
                  </a:moveTo>
                  <a:lnTo>
                    <a:pt x="13226923" y="0"/>
                  </a:lnTo>
                  <a:lnTo>
                    <a:pt x="13226923" y="6109208"/>
                  </a:lnTo>
                  <a:lnTo>
                    <a:pt x="0" y="610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54000" y="11282797"/>
            <a:ext cx="9455710" cy="771231"/>
            <a:chOff x="0" y="0"/>
            <a:chExt cx="9487117" cy="1028307"/>
          </a:xfrm>
        </p:grpSpPr>
        <p:sp>
          <p:nvSpPr>
            <p:cNvPr id="3" name="TextBox 3"/>
            <p:cNvSpPr txBox="1"/>
            <p:nvPr/>
          </p:nvSpPr>
          <p:spPr>
            <a:xfrm>
              <a:off x="822647" y="317177"/>
              <a:ext cx="8664470" cy="41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714" spc="-114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Real generada a partir de todo el train.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822646" cy="1028307"/>
            </a:xfrm>
            <a:custGeom>
              <a:avLst/>
              <a:gdLst/>
              <a:ahLst/>
              <a:cxnLst/>
              <a:rect l="l" t="t" r="r" b="b"/>
              <a:pathLst>
                <a:path w="822646" h="1028307">
                  <a:moveTo>
                    <a:pt x="0" y="0"/>
                  </a:moveTo>
                  <a:lnTo>
                    <a:pt x="822646" y="0"/>
                  </a:lnTo>
                  <a:lnTo>
                    <a:pt x="822646" y="1028307"/>
                  </a:lnTo>
                  <a:lnTo>
                    <a:pt x="0" y="1028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23010" y="4063234"/>
            <a:ext cx="15288190" cy="7061282"/>
            <a:chOff x="0" y="0"/>
            <a:chExt cx="20012393" cy="9243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12406" cy="9243314"/>
            </a:xfrm>
            <a:custGeom>
              <a:avLst/>
              <a:gdLst/>
              <a:ahLst/>
              <a:cxnLst/>
              <a:rect l="l" t="t" r="r" b="b"/>
              <a:pathLst>
                <a:path w="20012406" h="9243314">
                  <a:moveTo>
                    <a:pt x="0" y="0"/>
                  </a:moveTo>
                  <a:lnTo>
                    <a:pt x="20012406" y="0"/>
                  </a:lnTo>
                  <a:lnTo>
                    <a:pt x="20012406" y="9243314"/>
                  </a:lnTo>
                  <a:lnTo>
                    <a:pt x="0" y="9243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07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1600" y="3654592"/>
            <a:ext cx="5702739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INTRADAY </a:t>
            </a: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PERIODICITY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13108" y="3846027"/>
            <a:ext cx="8780298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ALTERNATIVA CALENDAR </a:t>
            </a: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BARS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13108" y="6331834"/>
            <a:ext cx="9374720" cy="507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Construcción de Calendar Bars (Test Branch) para corregir U-Shape.</a:t>
            </a:r>
          </a:p>
          <a:p>
            <a:pPr algn="l">
              <a:lnSpc>
                <a:spcPts val="3605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Basado en el volumen del día anterior, construimos Volume buckets para tener “n” barras por día. </a:t>
            </a:r>
          </a:p>
          <a:p>
            <a:pPr algn="l">
              <a:lnSpc>
                <a:spcPts val="3605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Comparando; al usar barras Calendario de 15-min, tendremos ~26 barras en el día.</a:t>
            </a:r>
          </a:p>
          <a:p>
            <a:pPr algn="l">
              <a:lnSpc>
                <a:spcPts val="3605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Concluyendo 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que las calendar bars no mejoran el modelo en la region óptima. </a:t>
            </a:r>
            <a:endParaRPr lang="en-US" sz="3500" b="1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71600" y="3617427"/>
            <a:ext cx="11425636" cy="7490846"/>
            <a:chOff x="0" y="0"/>
            <a:chExt cx="13604253" cy="89191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04239" cy="8919210"/>
            </a:xfrm>
            <a:custGeom>
              <a:avLst/>
              <a:gdLst/>
              <a:ahLst/>
              <a:cxnLst/>
              <a:rect l="l" t="t" r="r" b="b"/>
              <a:pathLst>
                <a:path w="13604239" h="8919210">
                  <a:moveTo>
                    <a:pt x="0" y="0"/>
                  </a:moveTo>
                  <a:lnTo>
                    <a:pt x="13604239" y="0"/>
                  </a:lnTo>
                  <a:lnTo>
                    <a:pt x="13604239" y="8919210"/>
                  </a:lnTo>
                  <a:lnTo>
                    <a:pt x="0" y="8919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00" y="11336593"/>
            <a:ext cx="7077905" cy="539511"/>
            <a:chOff x="0" y="0"/>
            <a:chExt cx="9437206" cy="71934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437206" cy="719348"/>
              <a:chOff x="0" y="0"/>
              <a:chExt cx="2388942" cy="1820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388942" cy="182096"/>
              </a:xfrm>
              <a:custGeom>
                <a:avLst/>
                <a:gdLst/>
                <a:ahLst/>
                <a:cxnLst/>
                <a:rect l="l" t="t" r="r" b="b"/>
                <a:pathLst>
                  <a:path w="2388942" h="182096">
                    <a:moveTo>
                      <a:pt x="74379" y="0"/>
                    </a:moveTo>
                    <a:lnTo>
                      <a:pt x="2314563" y="0"/>
                    </a:lnTo>
                    <a:cubicBezTo>
                      <a:pt x="2355641" y="0"/>
                      <a:pt x="2388942" y="33301"/>
                      <a:pt x="2388942" y="74379"/>
                    </a:cubicBezTo>
                    <a:lnTo>
                      <a:pt x="2388942" y="107717"/>
                    </a:lnTo>
                    <a:cubicBezTo>
                      <a:pt x="2388942" y="127444"/>
                      <a:pt x="2381106" y="146362"/>
                      <a:pt x="2367157" y="160311"/>
                    </a:cubicBezTo>
                    <a:cubicBezTo>
                      <a:pt x="2353208" y="174260"/>
                      <a:pt x="2334289" y="182096"/>
                      <a:pt x="2314563" y="182096"/>
                    </a:cubicBezTo>
                    <a:lnTo>
                      <a:pt x="74379" y="182096"/>
                    </a:lnTo>
                    <a:cubicBezTo>
                      <a:pt x="33301" y="182096"/>
                      <a:pt x="0" y="148796"/>
                      <a:pt x="0" y="107717"/>
                    </a:cubicBezTo>
                    <a:lnTo>
                      <a:pt x="0" y="74379"/>
                    </a:lnTo>
                    <a:cubicBezTo>
                      <a:pt x="0" y="33301"/>
                      <a:pt x="33301" y="0"/>
                      <a:pt x="74379" y="0"/>
                    </a:cubicBezTo>
                    <a:close/>
                  </a:path>
                </a:pathLst>
              </a:custGeom>
              <a:solidFill>
                <a:srgbClr val="B0BFD2">
                  <a:alpha val="40000"/>
                </a:srgb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95250"/>
                <a:ext cx="2388942" cy="86846"/>
              </a:xfrm>
              <a:prstGeom prst="rect">
                <a:avLst/>
              </a:prstGeom>
            </p:spPr>
            <p:txBody>
              <a:bodyPr lIns="46628" tIns="46628" rIns="46628" bIns="46628" rtlCol="0" anchor="ctr"/>
              <a:lstStyle/>
              <a:p>
                <a:pPr algn="ctr">
                  <a:lnSpc>
                    <a:spcPts val="3115"/>
                  </a:lnSpc>
                </a:pPr>
                <a:endParaRPr dirty="0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39645" y="117219"/>
              <a:ext cx="484910" cy="484910"/>
            </a:xfrm>
            <a:custGeom>
              <a:avLst/>
              <a:gdLst/>
              <a:ahLst/>
              <a:cxnLst/>
              <a:rect l="l" t="t" r="r" b="b"/>
              <a:pathLst>
                <a:path w="484910" h="484910">
                  <a:moveTo>
                    <a:pt x="0" y="0"/>
                  </a:moveTo>
                  <a:lnTo>
                    <a:pt x="484910" y="0"/>
                  </a:lnTo>
                  <a:lnTo>
                    <a:pt x="484910" y="484910"/>
                  </a:lnTo>
                  <a:lnTo>
                    <a:pt x="0" y="484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1" name="TextBox 11">
            <a:hlinkClick r:id="rId4" action="ppaction://hlinkfile"/>
          </p:cNvPr>
          <p:cNvSpPr txBox="1"/>
          <p:nvPr/>
        </p:nvSpPr>
        <p:spPr>
          <a:xfrm>
            <a:off x="2182118" y="11510882"/>
            <a:ext cx="6087653" cy="24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2022" spc="-84" dirty="0">
                <a:solidFill>
                  <a:srgbClr val="004AAD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AAD vs frecuencia — ¿óptimo ni muy fino ni muy grueso?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2400" y="-1384593"/>
            <a:ext cx="24382800" cy="13716000"/>
          </a:xfrm>
          <a:custGeom>
            <a:avLst/>
            <a:gdLst/>
            <a:ahLst/>
            <a:cxnLst/>
            <a:rect l="l" t="t" r="r" b="b"/>
            <a:pathLst>
              <a:path w="24382800" h="13716000">
                <a:moveTo>
                  <a:pt x="24382800" y="13716000"/>
                </a:moveTo>
                <a:lnTo>
                  <a:pt x="0" y="13716000"/>
                </a:lnTo>
                <a:lnTo>
                  <a:pt x="0" y="0"/>
                </a:lnTo>
                <a:lnTo>
                  <a:pt x="24382800" y="0"/>
                </a:lnTo>
                <a:lnTo>
                  <a:pt x="24382800" y="13716000"/>
                </a:lnTo>
                <a:close/>
              </a:path>
            </a:pathLst>
          </a:custGeom>
          <a:blipFill>
            <a:blip r:embed="rId2"/>
            <a:stretch>
              <a:fillRect b="-77769"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/>
          <p:cNvGrpSpPr/>
          <p:nvPr/>
        </p:nvGrpSpPr>
        <p:grpSpPr>
          <a:xfrm>
            <a:off x="1371600" y="5780681"/>
            <a:ext cx="12317298" cy="6563719"/>
            <a:chOff x="0" y="0"/>
            <a:chExt cx="16423064" cy="875162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673115" cy="8751625"/>
              <a:chOff x="0" y="0"/>
              <a:chExt cx="5522900" cy="851989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522849" cy="8519922"/>
              </a:xfrm>
              <a:custGeom>
                <a:avLst/>
                <a:gdLst/>
                <a:ahLst/>
                <a:cxnLst/>
                <a:rect l="l" t="t" r="r" b="b"/>
                <a:pathLst>
                  <a:path w="5522849" h="8519922">
                    <a:moveTo>
                      <a:pt x="0" y="0"/>
                    </a:moveTo>
                    <a:lnTo>
                      <a:pt x="5522849" y="0"/>
                    </a:lnTo>
                    <a:lnTo>
                      <a:pt x="5522849" y="8519922"/>
                    </a:lnTo>
                    <a:lnTo>
                      <a:pt x="0" y="85199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257379"/>
                </a:stretch>
              </a:blipFill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5673115" y="0"/>
              <a:ext cx="6261802" cy="8734366"/>
              <a:chOff x="0" y="0"/>
              <a:chExt cx="6096000" cy="850309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096000" cy="8503031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8503031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8503031"/>
                    </a:lnTo>
                    <a:lnTo>
                      <a:pt x="0" y="850303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60914" t="-3193" r="-72545"/>
                </a:stretch>
              </a:blipFill>
            </p:spPr>
            <p:txBody>
              <a:bodyPr/>
              <a:lstStyle/>
              <a:p>
                <a:endParaRPr lang="es-MX" dirty="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1934917" y="0"/>
              <a:ext cx="4488147" cy="8751625"/>
              <a:chOff x="0" y="0"/>
              <a:chExt cx="4369308" cy="8519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369308" cy="8519922"/>
              </a:xfrm>
              <a:custGeom>
                <a:avLst/>
                <a:gdLst/>
                <a:ahLst/>
                <a:cxnLst/>
                <a:rect l="l" t="t" r="r" b="b"/>
                <a:pathLst>
                  <a:path w="4369308" h="8519922">
                    <a:moveTo>
                      <a:pt x="0" y="0"/>
                    </a:moveTo>
                    <a:lnTo>
                      <a:pt x="4369308" y="0"/>
                    </a:lnTo>
                    <a:lnTo>
                      <a:pt x="4369308" y="8519922"/>
                    </a:lnTo>
                    <a:lnTo>
                      <a:pt x="0" y="85199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97612" t="-566"/>
                </a:stretch>
              </a:blipFill>
            </p:spPr>
            <p:txBody>
              <a:bodyPr/>
              <a:lstStyle/>
              <a:p>
                <a:endParaRPr lang="es-MX" dirty="0"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3971142" y="12376983"/>
            <a:ext cx="7077905" cy="539511"/>
            <a:chOff x="0" y="0"/>
            <a:chExt cx="9437206" cy="71934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437206" cy="719348"/>
              <a:chOff x="0" y="0"/>
              <a:chExt cx="2388942" cy="18209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388942" cy="182096"/>
              </a:xfrm>
              <a:custGeom>
                <a:avLst/>
                <a:gdLst/>
                <a:ahLst/>
                <a:cxnLst/>
                <a:rect l="l" t="t" r="r" b="b"/>
                <a:pathLst>
                  <a:path w="2388942" h="182096">
                    <a:moveTo>
                      <a:pt x="74379" y="0"/>
                    </a:moveTo>
                    <a:lnTo>
                      <a:pt x="2314563" y="0"/>
                    </a:lnTo>
                    <a:cubicBezTo>
                      <a:pt x="2355641" y="0"/>
                      <a:pt x="2388942" y="33301"/>
                      <a:pt x="2388942" y="74379"/>
                    </a:cubicBezTo>
                    <a:lnTo>
                      <a:pt x="2388942" y="107717"/>
                    </a:lnTo>
                    <a:cubicBezTo>
                      <a:pt x="2388942" y="127444"/>
                      <a:pt x="2381106" y="146362"/>
                      <a:pt x="2367157" y="160311"/>
                    </a:cubicBezTo>
                    <a:cubicBezTo>
                      <a:pt x="2353208" y="174260"/>
                      <a:pt x="2334289" y="182096"/>
                      <a:pt x="2314563" y="182096"/>
                    </a:cubicBezTo>
                    <a:lnTo>
                      <a:pt x="74379" y="182096"/>
                    </a:lnTo>
                    <a:cubicBezTo>
                      <a:pt x="33301" y="182096"/>
                      <a:pt x="0" y="148796"/>
                      <a:pt x="0" y="107717"/>
                    </a:cubicBezTo>
                    <a:lnTo>
                      <a:pt x="0" y="74379"/>
                    </a:lnTo>
                    <a:cubicBezTo>
                      <a:pt x="0" y="33301"/>
                      <a:pt x="33301" y="0"/>
                      <a:pt x="74379" y="0"/>
                    </a:cubicBezTo>
                    <a:close/>
                  </a:path>
                </a:pathLst>
              </a:custGeom>
              <a:solidFill>
                <a:srgbClr val="B0BFD2">
                  <a:alpha val="40000"/>
                </a:srgb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95250"/>
                <a:ext cx="2388942" cy="86846"/>
              </a:xfrm>
              <a:prstGeom prst="rect">
                <a:avLst/>
              </a:prstGeom>
            </p:spPr>
            <p:txBody>
              <a:bodyPr lIns="46628" tIns="46628" rIns="46628" bIns="46628" rtlCol="0" anchor="ctr"/>
              <a:lstStyle/>
              <a:p>
                <a:pPr algn="ctr">
                  <a:lnSpc>
                    <a:spcPts val="3115"/>
                  </a:lnSpc>
                </a:pPr>
                <a:endParaRPr dirty="0"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39645" y="117219"/>
              <a:ext cx="484910" cy="484910"/>
            </a:xfrm>
            <a:custGeom>
              <a:avLst/>
              <a:gdLst/>
              <a:ahLst/>
              <a:cxnLst/>
              <a:rect l="l" t="t" r="r" b="b"/>
              <a:pathLst>
                <a:path w="484910" h="484910">
                  <a:moveTo>
                    <a:pt x="0" y="0"/>
                  </a:moveTo>
                  <a:lnTo>
                    <a:pt x="484910" y="0"/>
                  </a:lnTo>
                  <a:lnTo>
                    <a:pt x="484910" y="484910"/>
                  </a:lnTo>
                  <a:lnTo>
                    <a:pt x="0" y="484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5" name="TextBox 15">
            <a:hlinkClick r:id="rId6" action="ppaction://hlinkfile"/>
          </p:cNvPr>
          <p:cNvSpPr txBox="1"/>
          <p:nvPr/>
        </p:nvSpPr>
        <p:spPr>
          <a:xfrm>
            <a:off x="14694293" y="12580497"/>
            <a:ext cx="6087653" cy="24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2022" spc="-84" dirty="0">
                <a:solidFill>
                  <a:srgbClr val="004AAD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AAD 3D — grid (barras/día × %removal) calendar vs dollar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09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71600" y="3381991"/>
            <a:ext cx="7728212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DOLLAR VS CALENDAR </a:t>
            </a: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BARS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32717" y="5912056"/>
            <a:ext cx="8175724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Corrimos un grid-search:</a:t>
            </a:r>
          </a:p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(%umbral cleaning, bars per day) -&gt; AAD.</a:t>
            </a:r>
          </a:p>
          <a:p>
            <a:pPr algn="l">
              <a:lnSpc>
                <a:spcPts val="3605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De los 67 modelos obtenidos con AAD &lt;</a:t>
            </a:r>
            <a:r>
              <a:rPr lang="en-US" sz="3500" b="1" spc="-14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0.8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tanto IS &amp; OOS; </a:t>
            </a: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51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son de Calendar Bars y </a:t>
            </a:r>
          </a:p>
          <a:p>
            <a:pPr algn="l">
              <a:lnSpc>
                <a:spcPts val="3605"/>
              </a:lnSpc>
            </a:pP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16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Dollar Bars.</a:t>
            </a:r>
          </a:p>
          <a:p>
            <a:pPr algn="l">
              <a:lnSpc>
                <a:spcPts val="3605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Confirmando 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 la superficie que Dollar bars en la mayoría de los puntos genera menor error en la cobertura.</a:t>
            </a:r>
          </a:p>
          <a:p>
            <a:pPr algn="l">
              <a:lnSpc>
                <a:spcPts val="3605"/>
              </a:lnSpc>
            </a:pPr>
            <a:endParaRPr lang="en-US" sz="3500" b="1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Y Obserbamos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la region del plano donde los modelos </a:t>
            </a: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consistentemente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generan mejor cobertura. </a:t>
            </a:r>
            <a:endParaRPr lang="en-US" sz="3500" b="1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08599" y="4003035"/>
            <a:ext cx="7562107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MESETA </a:t>
            </a:r>
            <a:r>
              <a:rPr lang="en-US" sz="7500" spc="-315" dirty="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ÓPTIMA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13413" y="12110734"/>
            <a:ext cx="1382928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Esta </a:t>
            </a:r>
            <a:r>
              <a:rPr lang="en-US" sz="3500" b="1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meseta óptima, </a:t>
            </a: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 el conjunto de modelos que preservan mejor relación entre IS y OOS, o sea minimizan el Riesgo de overfitting.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343893" y="7348358"/>
            <a:ext cx="10968398" cy="4528327"/>
            <a:chOff x="0" y="0"/>
            <a:chExt cx="11189106" cy="46194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89081" cy="4619498"/>
            </a:xfrm>
            <a:custGeom>
              <a:avLst/>
              <a:gdLst/>
              <a:ahLst/>
              <a:cxnLst/>
              <a:rect l="l" t="t" r="r" b="b"/>
              <a:pathLst>
                <a:path w="11189081" h="4619498">
                  <a:moveTo>
                    <a:pt x="0" y="0"/>
                  </a:moveTo>
                  <a:lnTo>
                    <a:pt x="11189081" y="0"/>
                  </a:lnTo>
                  <a:lnTo>
                    <a:pt x="11189081" y="4619498"/>
                  </a:lnTo>
                  <a:lnTo>
                    <a:pt x="0" y="461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9528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1231" y="3287746"/>
            <a:ext cx="5870840" cy="9056654"/>
            <a:chOff x="0" y="0"/>
            <a:chExt cx="4982121" cy="76856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82083" cy="7685659"/>
            </a:xfrm>
            <a:custGeom>
              <a:avLst/>
              <a:gdLst/>
              <a:ahLst/>
              <a:cxnLst/>
              <a:rect l="l" t="t" r="r" b="b"/>
              <a:pathLst>
                <a:path w="4982083" h="7685659">
                  <a:moveTo>
                    <a:pt x="0" y="0"/>
                  </a:moveTo>
                  <a:lnTo>
                    <a:pt x="4982083" y="0"/>
                  </a:lnTo>
                  <a:lnTo>
                    <a:pt x="4982083" y="7685659"/>
                  </a:lnTo>
                  <a:lnTo>
                    <a:pt x="0" y="7685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57378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10</a:t>
              </a:r>
            </a:p>
          </p:txBody>
        </p:sp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B696BEFA-07C5-757A-2E88-4E978C3E68B5}"/>
              </a:ext>
            </a:extLst>
          </p:cNvPr>
          <p:cNvSpPr txBox="1"/>
          <p:nvPr/>
        </p:nvSpPr>
        <p:spPr>
          <a:xfrm>
            <a:off x="2496293" y="5504919"/>
            <a:ext cx="10091520" cy="155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Después de un análisis de sensibilidad sobre los ejes. La sección de modelos más estable entres IS y OOS son 0.08% cleaning y {8, 13, 26, 78, 390} bpd.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24382800" cy="13716000"/>
          </a:xfrm>
          <a:custGeom>
            <a:avLst/>
            <a:gdLst/>
            <a:ahLst/>
            <a:cxnLst/>
            <a:rect l="l" t="t" r="r" b="b"/>
            <a:pathLst>
              <a:path w="24382800" h="13716000">
                <a:moveTo>
                  <a:pt x="0" y="13716000"/>
                </a:moveTo>
                <a:lnTo>
                  <a:pt x="24382800" y="13716000"/>
                </a:lnTo>
                <a:lnTo>
                  <a:pt x="24382800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blipFill>
            <a:blip r:embed="rId2"/>
            <a:stretch>
              <a:fillRect b="-7776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" name="TextBox 3"/>
          <p:cNvSpPr txBox="1"/>
          <p:nvPr/>
        </p:nvSpPr>
        <p:spPr>
          <a:xfrm>
            <a:off x="7443953" y="3088338"/>
            <a:ext cx="949489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P(STAY): </a:t>
            </a: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0 VS 0.387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091883" y="4103474"/>
            <a:ext cx="20199034" cy="6748523"/>
            <a:chOff x="0" y="0"/>
            <a:chExt cx="23356430" cy="7803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356443" cy="7803388"/>
            </a:xfrm>
            <a:custGeom>
              <a:avLst/>
              <a:gdLst/>
              <a:ahLst/>
              <a:cxnLst/>
              <a:rect l="l" t="t" r="r" b="b"/>
              <a:pathLst>
                <a:path w="23356443" h="7803388">
                  <a:moveTo>
                    <a:pt x="0" y="0"/>
                  </a:moveTo>
                  <a:lnTo>
                    <a:pt x="23356443" y="0"/>
                  </a:lnTo>
                  <a:lnTo>
                    <a:pt x="23356443" y="7803388"/>
                  </a:lnTo>
                  <a:lnTo>
                    <a:pt x="0" y="7803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38847" y="12602168"/>
            <a:ext cx="7077905" cy="539511"/>
            <a:chOff x="0" y="0"/>
            <a:chExt cx="9437206" cy="71934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437206" cy="719348"/>
              <a:chOff x="0" y="0"/>
              <a:chExt cx="2388942" cy="1820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388942" cy="182096"/>
              </a:xfrm>
              <a:custGeom>
                <a:avLst/>
                <a:gdLst/>
                <a:ahLst/>
                <a:cxnLst/>
                <a:rect l="l" t="t" r="r" b="b"/>
                <a:pathLst>
                  <a:path w="2388942" h="182096">
                    <a:moveTo>
                      <a:pt x="74379" y="0"/>
                    </a:moveTo>
                    <a:lnTo>
                      <a:pt x="2314563" y="0"/>
                    </a:lnTo>
                    <a:cubicBezTo>
                      <a:pt x="2355641" y="0"/>
                      <a:pt x="2388942" y="33301"/>
                      <a:pt x="2388942" y="74379"/>
                    </a:cubicBezTo>
                    <a:lnTo>
                      <a:pt x="2388942" y="107717"/>
                    </a:lnTo>
                    <a:cubicBezTo>
                      <a:pt x="2388942" y="127444"/>
                      <a:pt x="2381106" y="146362"/>
                      <a:pt x="2367157" y="160311"/>
                    </a:cubicBezTo>
                    <a:cubicBezTo>
                      <a:pt x="2353208" y="174260"/>
                      <a:pt x="2334289" y="182096"/>
                      <a:pt x="2314563" y="182096"/>
                    </a:cubicBezTo>
                    <a:lnTo>
                      <a:pt x="74379" y="182096"/>
                    </a:lnTo>
                    <a:cubicBezTo>
                      <a:pt x="33301" y="182096"/>
                      <a:pt x="0" y="148796"/>
                      <a:pt x="0" y="107717"/>
                    </a:cubicBezTo>
                    <a:lnTo>
                      <a:pt x="0" y="74379"/>
                    </a:lnTo>
                    <a:cubicBezTo>
                      <a:pt x="0" y="33301"/>
                      <a:pt x="33301" y="0"/>
                      <a:pt x="74379" y="0"/>
                    </a:cubicBezTo>
                    <a:close/>
                  </a:path>
                </a:pathLst>
              </a:custGeom>
              <a:solidFill>
                <a:srgbClr val="B0BFD2">
                  <a:alpha val="40000"/>
                </a:srgb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95250"/>
                <a:ext cx="2388942" cy="86846"/>
              </a:xfrm>
              <a:prstGeom prst="rect">
                <a:avLst/>
              </a:prstGeom>
            </p:spPr>
            <p:txBody>
              <a:bodyPr lIns="46628" tIns="46628" rIns="46628" bIns="46628" rtlCol="0" anchor="ctr"/>
              <a:lstStyle/>
              <a:p>
                <a:pPr algn="ctr">
                  <a:lnSpc>
                    <a:spcPts val="3115"/>
                  </a:lnSpc>
                </a:pPr>
                <a:endParaRPr dirty="0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39645" y="117219"/>
              <a:ext cx="484910" cy="484910"/>
            </a:xfrm>
            <a:custGeom>
              <a:avLst/>
              <a:gdLst/>
              <a:ahLst/>
              <a:cxnLst/>
              <a:rect l="l" t="t" r="r" b="b"/>
              <a:pathLst>
                <a:path w="484910" h="484910">
                  <a:moveTo>
                    <a:pt x="0" y="0"/>
                  </a:moveTo>
                  <a:lnTo>
                    <a:pt x="484910" y="0"/>
                  </a:lnTo>
                  <a:lnTo>
                    <a:pt x="484910" y="484910"/>
                  </a:lnTo>
                  <a:lnTo>
                    <a:pt x="0" y="484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1" name="TextBox 11">
            <a:hlinkClick r:id="rId5" action="ppaction://hlinkfile"/>
          </p:cNvPr>
          <p:cNvSpPr txBox="1"/>
          <p:nvPr/>
        </p:nvSpPr>
        <p:spPr>
          <a:xfrm>
            <a:off x="17537049" y="12780025"/>
            <a:ext cx="6087653" cy="24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2022" spc="-84" dirty="0">
                <a:solidFill>
                  <a:srgbClr val="004AAD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p_stay=0 (iid-Q) vs fitted p_stay=0.37 — cal 15-min/0.08%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11</a:t>
              </a:r>
            </a:p>
          </p:txBody>
        </p:sp>
      </p:grpSp>
      <p:sp>
        <p:nvSpPr>
          <p:cNvPr id="19" name="TextBox 3">
            <a:extLst>
              <a:ext uri="{FF2B5EF4-FFF2-40B4-BE49-F238E27FC236}">
                <a16:creationId xmlns:a16="http://schemas.microsoft.com/office/drawing/2014/main" id="{3B302431-C13D-BC83-9D6E-B822D100A8F7}"/>
              </a:ext>
            </a:extLst>
          </p:cNvPr>
          <p:cNvSpPr txBox="1"/>
          <p:nvPr/>
        </p:nvSpPr>
        <p:spPr>
          <a:xfrm>
            <a:off x="2141291" y="11087075"/>
            <a:ext cx="14887423" cy="2628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Sobre los 5 modelos de la meseta óptima realizamos pruebas de hipótesis sobre P(Stay) = 0 o diferente de 0.</a:t>
            </a:r>
          </a:p>
          <a:p>
            <a:pPr algn="l">
              <a:lnSpc>
                <a:spcPts val="4060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4060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Encontramos que defaultear alpha como 0 no quitaba poder de cobertura en ningun interval, por lo que no hay evidencia estadística de que sea necesario.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" y="3004938"/>
            <a:ext cx="8714709" cy="1635284"/>
            <a:chOff x="0" y="0"/>
            <a:chExt cx="11619612" cy="2180379"/>
          </a:xfrm>
        </p:grpSpPr>
        <p:sp>
          <p:nvSpPr>
            <p:cNvPr id="3" name="Freeform 3"/>
            <p:cNvSpPr/>
            <p:nvPr/>
          </p:nvSpPr>
          <p:spPr>
            <a:xfrm>
              <a:off x="9325967" y="0"/>
              <a:ext cx="2293645" cy="2180379"/>
            </a:xfrm>
            <a:custGeom>
              <a:avLst/>
              <a:gdLst/>
              <a:ahLst/>
              <a:cxnLst/>
              <a:rect l="l" t="t" r="r" b="b"/>
              <a:pathLst>
                <a:path w="2293645" h="2180379">
                  <a:moveTo>
                    <a:pt x="0" y="0"/>
                  </a:moveTo>
                  <a:lnTo>
                    <a:pt x="2293645" y="0"/>
                  </a:lnTo>
                  <a:lnTo>
                    <a:pt x="2293645" y="2180379"/>
                  </a:lnTo>
                  <a:lnTo>
                    <a:pt x="0" y="2180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6789"/>
              <a:ext cx="9325967" cy="1295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75"/>
                </a:lnSpc>
              </a:pPr>
              <a:r>
                <a:rPr lang="en-US" sz="7500" spc="-315" dirty="0">
                  <a:solidFill>
                    <a:srgbClr val="00000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ESTIMACIÓN DE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358037" y="9417635"/>
            <a:ext cx="611244" cy="672469"/>
          </a:xfrm>
          <a:custGeom>
            <a:avLst/>
            <a:gdLst/>
            <a:ahLst/>
            <a:cxnLst/>
            <a:rect l="l" t="t" r="r" b="b"/>
            <a:pathLst>
              <a:path w="611244" h="672469">
                <a:moveTo>
                  <a:pt x="0" y="0"/>
                </a:moveTo>
                <a:lnTo>
                  <a:pt x="611245" y="0"/>
                </a:lnTo>
                <a:lnTo>
                  <a:pt x="611245" y="672469"/>
                </a:lnTo>
                <a:lnTo>
                  <a:pt x="0" y="672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25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6" name="TextBox 6"/>
          <p:cNvSpPr txBox="1"/>
          <p:nvPr/>
        </p:nvSpPr>
        <p:spPr>
          <a:xfrm>
            <a:off x="1845759" y="9573260"/>
            <a:ext cx="20691283" cy="185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605"/>
              </a:lnSpc>
              <a:buFont typeface="Arial"/>
              <a:buChar char="•"/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Parámetro de salto asociado a P(Stay) y al         umbral de salto.</a:t>
            </a:r>
          </a:p>
          <a:p>
            <a:pPr algn="l">
              <a:lnSpc>
                <a:spcPts val="3605"/>
              </a:lnSpc>
            </a:pPr>
            <a:endParaRPr lang="en-US" sz="3500" spc="-147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 través de 8 replicas (seeds) y 5 valores de P(Stay), ningún valor parece agregar capacidad de cobertura.</a:t>
            </a:r>
          </a:p>
          <a:p>
            <a:pPr algn="l">
              <a:lnSpc>
                <a:spcPts val="3605"/>
              </a:lnSpc>
            </a:pPr>
            <a:r>
              <a:rPr lang="en-US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(Se droppeó el modelo con 390 bpd en esta iteración por cuestiones de cómputo)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45759" y="5576722"/>
            <a:ext cx="20691283" cy="3433869"/>
            <a:chOff x="0" y="0"/>
            <a:chExt cx="17908549" cy="29720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08524" cy="2972054"/>
            </a:xfrm>
            <a:custGeom>
              <a:avLst/>
              <a:gdLst/>
              <a:ahLst/>
              <a:cxnLst/>
              <a:rect l="l" t="t" r="r" b="b"/>
              <a:pathLst>
                <a:path w="17908524" h="2972054">
                  <a:moveTo>
                    <a:pt x="0" y="0"/>
                  </a:moveTo>
                  <a:lnTo>
                    <a:pt x="17908524" y="0"/>
                  </a:lnTo>
                  <a:lnTo>
                    <a:pt x="17908524" y="2972054"/>
                  </a:lnTo>
                  <a:lnTo>
                    <a:pt x="0" y="297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3150" y="5029200"/>
            <a:ext cx="495649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ANÁLISIS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432254" y="6707836"/>
            <a:ext cx="19518292" cy="1521460"/>
            <a:chOff x="0" y="0"/>
            <a:chExt cx="26024390" cy="2028613"/>
          </a:xfrm>
        </p:grpSpPr>
        <p:sp>
          <p:nvSpPr>
            <p:cNvPr id="4" name="Freeform 4"/>
            <p:cNvSpPr/>
            <p:nvPr/>
          </p:nvSpPr>
          <p:spPr>
            <a:xfrm>
              <a:off x="16803239" y="0"/>
              <a:ext cx="2322847" cy="815034"/>
            </a:xfrm>
            <a:custGeom>
              <a:avLst/>
              <a:gdLst/>
              <a:ahLst/>
              <a:cxnLst/>
              <a:rect l="l" t="t" r="r" b="b"/>
              <a:pathLst>
                <a:path w="2322847" h="815034">
                  <a:moveTo>
                    <a:pt x="0" y="0"/>
                  </a:moveTo>
                  <a:lnTo>
                    <a:pt x="2322847" y="0"/>
                  </a:lnTo>
                  <a:lnTo>
                    <a:pt x="2322847" y="815034"/>
                  </a:lnTo>
                  <a:lnTo>
                    <a:pt x="0" y="815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6024390" cy="200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3500" spc="-147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Al no encontrar evidencia de mejoras en el modelo al considerar una                    . No hay evidencia a favor de sostener el modelo de saltos. Por lo que nuestro Kernel de transición en la variable latente se ve reducido únicamente a remuestrear que Q, cada 15 min.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53911" y="3962015"/>
            <a:ext cx="13357289" cy="6375069"/>
            <a:chOff x="0" y="0"/>
            <a:chExt cx="18777306" cy="89618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7331" cy="8961882"/>
            </a:xfrm>
            <a:custGeom>
              <a:avLst/>
              <a:gdLst/>
              <a:ahLst/>
              <a:cxnLst/>
              <a:rect l="l" t="t" r="r" b="b"/>
              <a:pathLst>
                <a:path w="18777331" h="8961882">
                  <a:moveTo>
                    <a:pt x="0" y="0"/>
                  </a:moveTo>
                  <a:lnTo>
                    <a:pt x="18777331" y="0"/>
                  </a:lnTo>
                  <a:lnTo>
                    <a:pt x="18777331" y="8961882"/>
                  </a:lnTo>
                  <a:lnTo>
                    <a:pt x="0" y="8961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71600" y="3885622"/>
            <a:ext cx="6307971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¿QUÉ PASA EN </a:t>
            </a: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RETORNOS DIARIOS</a:t>
            </a: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7315200"/>
            <a:ext cx="7053617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Queremos ver para qué granularidad de datos se comporta mejor y se mantiene viable el modelo. Encontramos que los mejores resultados se ven con datos de 1min, 15 min y así sucesivamente a mayor temporalidad mayor error en la cobertura. </a:t>
            </a:r>
          </a:p>
          <a:p>
            <a:pPr algn="l">
              <a:lnSpc>
                <a:spcPts val="3250"/>
              </a:lnSpc>
            </a:pPr>
            <a:endParaRPr lang="en-US" sz="2902" spc="-121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Si queremos pasar a un gráfico diario, la ventaja de Q-emp se pierde y regresamos a lo estándar de la literatura. El modelo Log-Normal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878321" y="10617520"/>
            <a:ext cx="8132879" cy="539511"/>
            <a:chOff x="0" y="0"/>
            <a:chExt cx="10843839" cy="71934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843839" cy="719348"/>
              <a:chOff x="0" y="0"/>
              <a:chExt cx="2745018" cy="18209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45018" cy="182096"/>
              </a:xfrm>
              <a:custGeom>
                <a:avLst/>
                <a:gdLst/>
                <a:ahLst/>
                <a:cxnLst/>
                <a:rect l="l" t="t" r="r" b="b"/>
                <a:pathLst>
                  <a:path w="2745018" h="182096">
                    <a:moveTo>
                      <a:pt x="64731" y="0"/>
                    </a:moveTo>
                    <a:lnTo>
                      <a:pt x="2680287" y="0"/>
                    </a:lnTo>
                    <a:cubicBezTo>
                      <a:pt x="2716037" y="0"/>
                      <a:pt x="2745018" y="28981"/>
                      <a:pt x="2745018" y="64731"/>
                    </a:cubicBezTo>
                    <a:lnTo>
                      <a:pt x="2745018" y="117365"/>
                    </a:lnTo>
                    <a:cubicBezTo>
                      <a:pt x="2745018" y="153115"/>
                      <a:pt x="2716037" y="182096"/>
                      <a:pt x="2680287" y="182096"/>
                    </a:cubicBezTo>
                    <a:lnTo>
                      <a:pt x="64731" y="182096"/>
                    </a:lnTo>
                    <a:cubicBezTo>
                      <a:pt x="28981" y="182096"/>
                      <a:pt x="0" y="153115"/>
                      <a:pt x="0" y="117365"/>
                    </a:cubicBezTo>
                    <a:lnTo>
                      <a:pt x="0" y="64731"/>
                    </a:lnTo>
                    <a:cubicBezTo>
                      <a:pt x="0" y="28981"/>
                      <a:pt x="28981" y="0"/>
                      <a:pt x="64731" y="0"/>
                    </a:cubicBezTo>
                    <a:close/>
                  </a:path>
                </a:pathLst>
              </a:custGeom>
              <a:solidFill>
                <a:srgbClr val="B0BFD2">
                  <a:alpha val="40000"/>
                </a:srgb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95250"/>
                <a:ext cx="2745018" cy="86846"/>
              </a:xfrm>
              <a:prstGeom prst="rect">
                <a:avLst/>
              </a:prstGeom>
            </p:spPr>
            <p:txBody>
              <a:bodyPr lIns="46628" tIns="46628" rIns="46628" bIns="46628" rtlCol="0" anchor="ctr"/>
              <a:lstStyle/>
              <a:p>
                <a:pPr algn="ctr">
                  <a:lnSpc>
                    <a:spcPts val="3115"/>
                  </a:lnSpc>
                </a:pPr>
                <a:endParaRPr dirty="0"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239645" y="117219"/>
              <a:ext cx="484910" cy="484910"/>
            </a:xfrm>
            <a:custGeom>
              <a:avLst/>
              <a:gdLst/>
              <a:ahLst/>
              <a:cxnLst/>
              <a:rect l="l" t="t" r="r" b="b"/>
              <a:pathLst>
                <a:path w="484910" h="484910">
                  <a:moveTo>
                    <a:pt x="0" y="0"/>
                  </a:moveTo>
                  <a:lnTo>
                    <a:pt x="484910" y="0"/>
                  </a:lnTo>
                  <a:lnTo>
                    <a:pt x="484910" y="484910"/>
                  </a:lnTo>
                  <a:lnTo>
                    <a:pt x="0" y="484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7" name="TextBox 17">
            <a:hlinkClick r:id="rId4" action="ppaction://hlinkfile"/>
          </p:cNvPr>
          <p:cNvSpPr txBox="1"/>
          <p:nvPr/>
        </p:nvSpPr>
        <p:spPr>
          <a:xfrm>
            <a:off x="15688839" y="10791808"/>
            <a:ext cx="7199653" cy="24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2022" spc="-84" dirty="0">
                <a:solidFill>
                  <a:srgbClr val="004AAD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GIG (Inversa Gaussiana Generalizada) — meseta intradía + RV diaria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56055-CF67-E563-28AF-BF83DD1F8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BC7C74A-56AA-EA00-5789-E49FF1B1D611}"/>
              </a:ext>
            </a:extLst>
          </p:cNvPr>
          <p:cNvSpPr txBox="1"/>
          <p:nvPr/>
        </p:nvSpPr>
        <p:spPr>
          <a:xfrm>
            <a:off x="1371600" y="3885622"/>
            <a:ext cx="6307971" cy="296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¿Cuál es la mejor dinámica de calibración?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4BC6FEB-B893-ED5B-3C89-48A3749F4F5C}"/>
              </a:ext>
            </a:extLst>
          </p:cNvPr>
          <p:cNvSpPr txBox="1"/>
          <p:nvPr/>
        </p:nvSpPr>
        <p:spPr>
          <a:xfrm>
            <a:off x="1371600" y="7315200"/>
            <a:ext cx="7053617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Quizimos comparar calibrar mediante una expanding, rolling vs un train fijo. Y para qué longitudes.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210D733-5DE5-7EAB-D2CA-941133B4F4E2}"/>
              </a:ext>
            </a:extLst>
          </p:cNvPr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2B7A304-E1FA-CAAC-DAFE-985E6793D273}"/>
                </a:ext>
              </a:extLst>
            </p:cNvPr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452C4F7-09AD-8F43-7FC6-C14B95E6F3DB}"/>
                  </a:ext>
                </a:extLst>
              </p:cNvPr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EB0BA0C-33F2-B996-224B-6351BA19900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903A61A-1C6D-03C5-623F-66DCAF4B9B09}"/>
                </a:ext>
              </a:extLst>
            </p:cNvPr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2D1F81A-ECAD-1AE1-0EAA-2213A40CFD43}"/>
                </a:ext>
              </a:extLst>
            </p:cNvPr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13</a:t>
              </a:r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4FB030CC-6CA2-2110-766E-CF3252FAD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5361044"/>
            <a:ext cx="14162233" cy="2814743"/>
          </a:xfrm>
          <a:prstGeom prst="rect">
            <a:avLst/>
          </a:prstGeom>
        </p:spPr>
      </p:pic>
      <p:sp>
        <p:nvSpPr>
          <p:cNvPr id="21" name="TextBox 5">
            <a:extLst>
              <a:ext uri="{FF2B5EF4-FFF2-40B4-BE49-F238E27FC236}">
                <a16:creationId xmlns:a16="http://schemas.microsoft.com/office/drawing/2014/main" id="{74A12300-F2DE-C1BA-FB20-9F7D5B1923E5}"/>
              </a:ext>
            </a:extLst>
          </p:cNvPr>
          <p:cNvSpPr txBox="1"/>
          <p:nvPr/>
        </p:nvSpPr>
        <p:spPr>
          <a:xfrm>
            <a:off x="1371600" y="8949985"/>
            <a:ext cx="1402080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Encontramos que </a:t>
            </a:r>
            <a:r>
              <a:rPr lang="en-US" sz="2902" b="1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no hay evidencia que soporte borrar observaciones anteriores. </a:t>
            </a: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Y no hay diferencia entre un expanding y un rolling de 600 días por lo que para la temporalidad de 15 min, con 600 días de datos es suficiente para realizar la major cobertura que el modelo ofrece.</a:t>
            </a:r>
            <a:endParaRPr lang="en-US" sz="2902" b="1" spc="-121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CA918D5-065E-3F74-3648-C99B4F13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716" y="8584778"/>
            <a:ext cx="3943900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50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EF42F-C12C-4DEF-8A31-C13775CD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52009B2-B283-0EF1-2E5C-00DA194C1341}"/>
              </a:ext>
            </a:extLst>
          </p:cNvPr>
          <p:cNvSpPr txBox="1"/>
          <p:nvPr/>
        </p:nvSpPr>
        <p:spPr>
          <a:xfrm>
            <a:off x="1371600" y="3885622"/>
            <a:ext cx="6307971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¿Cuál es la calibración?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F5B2ABA-E8C1-F0C8-394C-0F6B39539074}"/>
              </a:ext>
            </a:extLst>
          </p:cNvPr>
          <p:cNvSpPr txBox="1"/>
          <p:nvPr/>
        </p:nvSpPr>
        <p:spPr>
          <a:xfrm>
            <a:off x="1371600" y="7315200"/>
            <a:ext cx="7053617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Ahora para cada granularidad, comparamos el AAD obtenido a apartir de distintoas longitudes de Train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6E13FE-7313-2224-9CFD-FCBDCD574AA1}"/>
              </a:ext>
            </a:extLst>
          </p:cNvPr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76841EA-F560-F8DE-96D3-A1060A5447D5}"/>
                </a:ext>
              </a:extLst>
            </p:cNvPr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DD7A72-756F-D76C-B3FF-75B9D15B6A33}"/>
                  </a:ext>
                </a:extLst>
              </p:cNvPr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0E4A57E-8C53-5CCB-B7C9-200E321A983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D4BF6A9-85A6-3012-0554-0A2231581C43}"/>
                </a:ext>
              </a:extLst>
            </p:cNvPr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BFD799D-F1E4-5F62-CBB3-DAB6B3D0BE55}"/>
                </a:ext>
              </a:extLst>
            </p:cNvPr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13</a:t>
              </a:r>
            </a:p>
          </p:txBody>
        </p:sp>
      </p:grpSp>
      <p:sp>
        <p:nvSpPr>
          <p:cNvPr id="21" name="TextBox 5">
            <a:extLst>
              <a:ext uri="{FF2B5EF4-FFF2-40B4-BE49-F238E27FC236}">
                <a16:creationId xmlns:a16="http://schemas.microsoft.com/office/drawing/2014/main" id="{D93E2573-BD35-4277-7EEB-3C6FD76AE49E}"/>
              </a:ext>
            </a:extLst>
          </p:cNvPr>
          <p:cNvSpPr txBox="1"/>
          <p:nvPr/>
        </p:nvSpPr>
        <p:spPr>
          <a:xfrm>
            <a:off x="1371600" y="8949985"/>
            <a:ext cx="14020800" cy="2115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Para 15 mínutos tenémos optimos resultados a partir de 2 meses</a:t>
            </a:r>
          </a:p>
          <a:p>
            <a:pPr algn="l">
              <a:lnSpc>
                <a:spcPts val="3250"/>
              </a:lnSpc>
            </a:pPr>
            <a:endParaRPr lang="en-US" sz="2902" spc="-121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algn="l">
              <a:lnSpc>
                <a:spcPts val="3250"/>
              </a:lnSpc>
            </a:pP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 </a:t>
            </a:r>
            <a:r>
              <a:rPr lang="en-US" sz="2902" b="1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conclusion</a:t>
            </a:r>
            <a:r>
              <a:rPr lang="en-US" sz="2902" spc="-121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no es necesario recalibrar la Q empírica, en todo caso es mejor expandirla, pero a partir de 600 días de información ya no cambia significativamente. Y mínimo 60 días ya temenos resultados de calibración consistentes.</a:t>
            </a:r>
            <a:endParaRPr lang="en-US" sz="2902" b="1" spc="-121" dirty="0">
              <a:solidFill>
                <a:srgbClr val="000000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CBA464E-5FCF-B1A1-E3A1-3FD9C2B6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0" y="4572000"/>
            <a:ext cx="8112349" cy="670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69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81966" y="5257800"/>
            <a:ext cx="17620067" cy="3932661"/>
            <a:chOff x="0" y="0"/>
            <a:chExt cx="19509638" cy="4354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9612" cy="4354449"/>
            </a:xfrm>
            <a:custGeom>
              <a:avLst/>
              <a:gdLst/>
              <a:ahLst/>
              <a:cxnLst/>
              <a:rect l="l" t="t" r="r" b="b"/>
              <a:pathLst>
                <a:path w="19509612" h="4354449">
                  <a:moveTo>
                    <a:pt x="0" y="0"/>
                  </a:moveTo>
                  <a:lnTo>
                    <a:pt x="19509612" y="0"/>
                  </a:lnTo>
                  <a:lnTo>
                    <a:pt x="19509612" y="4354449"/>
                  </a:lnTo>
                  <a:lnTo>
                    <a:pt x="0" y="4354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15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85451" y="2667000"/>
            <a:ext cx="7813074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2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REPLICACIÓN DE  </a:t>
            </a:r>
            <a:endParaRPr lang="en-US" sz="7500" spc="-315" dirty="0">
              <a:solidFill>
                <a:srgbClr val="AFC0D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ctr">
              <a:lnSpc>
                <a:spcPts val="7725"/>
              </a:lnSpc>
            </a:pPr>
            <a:r>
              <a:rPr lang="en-US" sz="7500" spc="-315" dirty="0">
                <a:solidFill>
                  <a:srgbClr val="AFC0D2"/>
                </a:solidFill>
                <a:latin typeface="Inter Light"/>
                <a:ea typeface="Inter Light"/>
                <a:cs typeface="Inter Light"/>
                <a:sym typeface="Inter Light"/>
              </a:rPr>
              <a:t>RESULTADOS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0" y="3064441"/>
            <a:ext cx="6165610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75"/>
              </a:lnSpc>
            </a:pPr>
            <a:r>
              <a:rPr lang="en-US" sz="7500" spc="-315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Conclusiones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71600" y="727006"/>
            <a:ext cx="21639600" cy="445403"/>
            <a:chOff x="0" y="0"/>
            <a:chExt cx="28852800" cy="59387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434411" cy="593871"/>
              <a:chOff x="0" y="0"/>
              <a:chExt cx="656950" cy="8798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6950" cy="87981"/>
              </a:xfrm>
              <a:custGeom>
                <a:avLst/>
                <a:gdLst/>
                <a:ahLst/>
                <a:cxnLst/>
                <a:rect l="l" t="t" r="r" b="b"/>
                <a:pathLst>
                  <a:path w="656950" h="87981">
                    <a:moveTo>
                      <a:pt x="43990" y="0"/>
                    </a:moveTo>
                    <a:lnTo>
                      <a:pt x="612959" y="0"/>
                    </a:lnTo>
                    <a:cubicBezTo>
                      <a:pt x="637255" y="0"/>
                      <a:pt x="656950" y="19695"/>
                      <a:pt x="656950" y="43990"/>
                    </a:cubicBezTo>
                    <a:lnTo>
                      <a:pt x="656950" y="43990"/>
                    </a:lnTo>
                    <a:cubicBezTo>
                      <a:pt x="656950" y="68286"/>
                      <a:pt x="637255" y="87981"/>
                      <a:pt x="612959" y="87981"/>
                    </a:cubicBezTo>
                    <a:lnTo>
                      <a:pt x="43990" y="87981"/>
                    </a:lnTo>
                    <a:cubicBezTo>
                      <a:pt x="19695" y="87981"/>
                      <a:pt x="0" y="68286"/>
                      <a:pt x="0" y="43990"/>
                    </a:cubicBezTo>
                    <a:lnTo>
                      <a:pt x="0" y="43990"/>
                    </a:lnTo>
                    <a:cubicBezTo>
                      <a:pt x="0" y="19695"/>
                      <a:pt x="19695" y="0"/>
                      <a:pt x="43990" y="0"/>
                    </a:cubicBezTo>
                    <a:close/>
                  </a:path>
                </a:pathLst>
              </a:custGeom>
              <a:ln w="9525" cap="rnd">
                <a:solidFill>
                  <a:srgbClr val="B7B7B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656950" cy="135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2"/>
                  </a:lnSpc>
                </a:pPr>
                <a:endParaRPr dirty="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97187" y="156093"/>
              <a:ext cx="3640038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Reporte SS SF - Harris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216774" y="156093"/>
              <a:ext cx="4636026" cy="34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69"/>
                </a:lnSpc>
              </a:pPr>
              <a:r>
                <a:rPr lang="en-US" sz="2100" dirty="0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Página</a:t>
              </a:r>
              <a:r>
                <a:rPr lang="en-US" sz="2100" dirty="0">
                  <a:solidFill>
                    <a:srgbClr val="000000"/>
                  </a:solidFill>
                  <a:latin typeface="Inter Thin"/>
                  <a:ea typeface="Inter Thin"/>
                  <a:cs typeface="Inter Thin"/>
                  <a:sym typeface="Inter Thin"/>
                </a:rPr>
                <a:t> </a:t>
              </a:r>
              <a:r>
                <a:rPr lang="en-US" sz="2100" b="1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16</a:t>
              </a:r>
            </a:p>
          </p:txBody>
        </p:sp>
      </p:grpSp>
      <p:sp>
        <p:nvSpPr>
          <p:cNvPr id="11" name="Freeform 2">
            <a:extLst>
              <a:ext uri="{FF2B5EF4-FFF2-40B4-BE49-F238E27FC236}">
                <a16:creationId xmlns:a16="http://schemas.microsoft.com/office/drawing/2014/main" id="{F619DCE3-8F8B-3BA8-6369-4EEDE3856164}"/>
              </a:ext>
            </a:extLst>
          </p:cNvPr>
          <p:cNvSpPr/>
          <p:nvPr/>
        </p:nvSpPr>
        <p:spPr>
          <a:xfrm rot="5400000">
            <a:off x="15032497" y="4379738"/>
            <a:ext cx="10214325" cy="8458200"/>
          </a:xfrm>
          <a:custGeom>
            <a:avLst/>
            <a:gdLst/>
            <a:ahLst/>
            <a:cxnLst/>
            <a:rect l="l" t="t" r="r" b="b"/>
            <a:pathLst>
              <a:path w="20428650" h="21169586">
                <a:moveTo>
                  <a:pt x="0" y="0"/>
                </a:moveTo>
                <a:lnTo>
                  <a:pt x="20428651" y="0"/>
                </a:lnTo>
                <a:lnTo>
                  <a:pt x="20428651" y="21169586"/>
                </a:lnTo>
                <a:lnTo>
                  <a:pt x="0" y="2116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285" r="-100000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5D974ACB-83A7-7A2C-48DF-4DB7420CF2C1}"/>
              </a:ext>
            </a:extLst>
          </p:cNvPr>
          <p:cNvSpPr/>
          <p:nvPr/>
        </p:nvSpPr>
        <p:spPr>
          <a:xfrm>
            <a:off x="2895600" y="4247360"/>
            <a:ext cx="17707136" cy="6373719"/>
          </a:xfrm>
          <a:custGeom>
            <a:avLst/>
            <a:gdLst/>
            <a:ahLst/>
            <a:cxnLst/>
            <a:rect l="l" t="t" r="r" b="b"/>
            <a:pathLst>
              <a:path w="1971692" h="265911">
                <a:moveTo>
                  <a:pt x="52742" y="0"/>
                </a:moveTo>
                <a:lnTo>
                  <a:pt x="1918950" y="0"/>
                </a:lnTo>
                <a:cubicBezTo>
                  <a:pt x="1932938" y="0"/>
                  <a:pt x="1946353" y="5557"/>
                  <a:pt x="1956244" y="15448"/>
                </a:cubicBezTo>
                <a:cubicBezTo>
                  <a:pt x="1966135" y="25339"/>
                  <a:pt x="1971692" y="38754"/>
                  <a:pt x="1971692" y="52742"/>
                </a:cubicBezTo>
                <a:lnTo>
                  <a:pt x="1971692" y="213170"/>
                </a:lnTo>
                <a:cubicBezTo>
                  <a:pt x="1971692" y="227158"/>
                  <a:pt x="1966135" y="240573"/>
                  <a:pt x="1956244" y="250464"/>
                </a:cubicBezTo>
                <a:cubicBezTo>
                  <a:pt x="1946353" y="260355"/>
                  <a:pt x="1932938" y="265911"/>
                  <a:pt x="1918950" y="265911"/>
                </a:cubicBezTo>
                <a:lnTo>
                  <a:pt x="52742" y="265911"/>
                </a:lnTo>
                <a:cubicBezTo>
                  <a:pt x="23613" y="265911"/>
                  <a:pt x="0" y="242298"/>
                  <a:pt x="0" y="213170"/>
                </a:cubicBezTo>
                <a:lnTo>
                  <a:pt x="0" y="52742"/>
                </a:lnTo>
                <a:cubicBezTo>
                  <a:pt x="0" y="38754"/>
                  <a:pt x="5557" y="25339"/>
                  <a:pt x="15448" y="15448"/>
                </a:cubicBezTo>
                <a:cubicBezTo>
                  <a:pt x="25339" y="5557"/>
                  <a:pt x="38754" y="0"/>
                  <a:pt x="52742" y="0"/>
                </a:cubicBezTo>
                <a:close/>
              </a:path>
            </a:pathLst>
          </a:custGeom>
          <a:solidFill>
            <a:srgbClr val="E2E3E8">
              <a:alpha val="40000"/>
            </a:srgbClr>
          </a:solidFill>
        </p:spPr>
        <p:txBody>
          <a:bodyPr/>
          <a:lstStyle/>
          <a:p>
            <a:endParaRPr lang="es-MX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2021A13D-BA28-6653-70B9-CFE24969704F}"/>
              </a:ext>
            </a:extLst>
          </p:cNvPr>
          <p:cNvSpPr txBox="1"/>
          <p:nvPr/>
        </p:nvSpPr>
        <p:spPr>
          <a:xfrm>
            <a:off x="3781264" y="5029200"/>
            <a:ext cx="16259335" cy="5573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El mejor método de estimación es el Gibbs tanto a como b obtuvieron resultados similares para todo tamaño.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Se descartó la implementación de calendar-bars considerando sensibilidad, aunque el mejor modelo de todos usaba Calendar Bars, al realizar el análisis de sensibilidad es posible que sea overfitting.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Para temporalidades intradía la mejor Q es la distribución empírica. 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Se descartó la implementación de rolling windows, lo que implica que la caracterización de la cobertura de volatilidad parece ser constante o estacionaria.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Para la granularidad de 15 min basta calibrar con 60 y a partir de 600 días no aporta más.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Se demostró que la dinámica de salto no agrega explicabilidad al modelo, por lo tanto el mejor estimador de la cobertura es únicamente un bootstrapping de la empírica.</a:t>
            </a:r>
          </a:p>
          <a:p>
            <a:pPr marL="457200" indent="-457200">
              <a:lnSpc>
                <a:spcPts val="3115"/>
              </a:lnSpc>
              <a:buFont typeface="Arial" panose="020B0604020202020204" pitchFamily="34" charset="0"/>
              <a:buChar char="•"/>
            </a:pPr>
            <a:r>
              <a:rPr lang="es-MX" sz="3500" spc="-147" dirty="0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El análisis para acciones mexicanas se encontró limitado por la calidad de los datos obtenibles por medios gratuitos.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380766">
            <a:off x="-7369913" y="-6761006"/>
            <a:ext cx="20428650" cy="21169586"/>
          </a:xfrm>
          <a:custGeom>
            <a:avLst/>
            <a:gdLst/>
            <a:ahLst/>
            <a:cxnLst/>
            <a:rect l="l" t="t" r="r" b="b"/>
            <a:pathLst>
              <a:path w="20428650" h="21169586">
                <a:moveTo>
                  <a:pt x="0" y="0"/>
                </a:moveTo>
                <a:lnTo>
                  <a:pt x="20428651" y="0"/>
                </a:lnTo>
                <a:lnTo>
                  <a:pt x="20428651" y="21169586"/>
                </a:lnTo>
                <a:lnTo>
                  <a:pt x="0" y="2116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" name="TextBox 3"/>
          <p:cNvSpPr txBox="1"/>
          <p:nvPr/>
        </p:nvSpPr>
        <p:spPr>
          <a:xfrm>
            <a:off x="15102158" y="8447994"/>
            <a:ext cx="7909042" cy="207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54"/>
              </a:lnSpc>
            </a:pPr>
            <a:r>
              <a:rPr lang="en-US" sz="16915" b="1" dirty="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Gracias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23005" y="10549661"/>
            <a:ext cx="478819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sz="3210" spc="-134" dirty="0">
                <a:solidFill>
                  <a:srgbClr val="FFFFFF"/>
                </a:solidFill>
                <a:latin typeface="Inter Thin"/>
                <a:ea typeface="Inter Thin"/>
                <a:cs typeface="Inter Thin"/>
                <a:sym typeface="Inter Thin"/>
              </a:rPr>
              <a:t>Angel Vences Adame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1409</Words>
  <Application>Microsoft Office PowerPoint</Application>
  <PresentationFormat>Personalizado</PresentationFormat>
  <Paragraphs>168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4" baseType="lpstr">
      <vt:lpstr>Aptos</vt:lpstr>
      <vt:lpstr>Cambria Math</vt:lpstr>
      <vt:lpstr>Inter Thin</vt:lpstr>
      <vt:lpstr>Arial</vt:lpstr>
      <vt:lpstr>Inter</vt:lpstr>
      <vt:lpstr>Calibri</vt:lpstr>
      <vt:lpstr>Inter Light</vt:lpstr>
      <vt:lpstr>Arimo Bold</vt:lpstr>
      <vt:lpstr>Inter Semi-Bold</vt:lpstr>
      <vt:lpstr>Inter Bold</vt:lpstr>
      <vt:lpstr>Inter Extra-Light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DIH | Shark Tank </dc:title>
  <cp:lastModifiedBy>Angel Vences</cp:lastModifiedBy>
  <cp:revision>5</cp:revision>
  <dcterms:created xsi:type="dcterms:W3CDTF">2006-08-16T00:00:00Z</dcterms:created>
  <dcterms:modified xsi:type="dcterms:W3CDTF">2026-10-01T12:04:20Z</dcterms:modified>
  <dc:identifier>DAHWiyoRA34</dc:identifier>
</cp:coreProperties>
</file>