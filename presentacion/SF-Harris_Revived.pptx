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314" r:id="rId5"/>
    <p:sldId id="315" r:id="rId6"/>
    <p:sldId id="327" r:id="rId7"/>
    <p:sldId id="316" r:id="rId8"/>
    <p:sldId id="328" r:id="rId9"/>
    <p:sldId id="330" r:id="rId10"/>
    <p:sldId id="326" r:id="rId11"/>
    <p:sldId id="317" r:id="rId12"/>
    <p:sldId id="318" r:id="rId13"/>
    <p:sldId id="319" r:id="rId14"/>
    <p:sldId id="321" r:id="rId15"/>
    <p:sldId id="329" r:id="rId16"/>
    <p:sldId id="322" r:id="rId17"/>
    <p:sldId id="323" r:id="rId18"/>
    <p:sldId id="324" r:id="rId19"/>
    <p:sldId id="325" r:id="rId20"/>
    <p:sldId id="309" r:id="rId2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735F85-64BB-4E4F-9E2B-1B5C4C8C50A6}" v="2" dt="2026-09-24T22:58:34.5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 Vences" userId="d326250db12e4617" providerId="LiveId" clId="{2E9249DA-4D3A-4C7E-A8C5-E071A86CCF78}"/>
    <pc:docChg chg="undo custSel modSld sldOrd">
      <pc:chgData name="Angel Vences" userId="d326250db12e4617" providerId="LiveId" clId="{2E9249DA-4D3A-4C7E-A8C5-E071A86CCF78}" dt="2026-09-24T23:00:45.646" v="100"/>
      <pc:docMkLst>
        <pc:docMk/>
      </pc:docMkLst>
      <pc:sldChg chg="addSp modSp mod">
        <pc:chgData name="Angel Vences" userId="d326250db12e4617" providerId="LiveId" clId="{2E9249DA-4D3A-4C7E-A8C5-E071A86CCF78}" dt="2026-09-24T22:56:02.697" v="92" actId="1076"/>
        <pc:sldMkLst>
          <pc:docMk/>
          <pc:sldMk cId="2945390068" sldId="314"/>
        </pc:sldMkLst>
        <pc:spChg chg="mod">
          <ac:chgData name="Angel Vences" userId="d326250db12e4617" providerId="LiveId" clId="{2E9249DA-4D3A-4C7E-A8C5-E071A86CCF78}" dt="2026-09-24T22:56:02.697" v="92" actId="1076"/>
          <ac:spMkLst>
            <pc:docMk/>
            <pc:sldMk cId="2945390068" sldId="314"/>
            <ac:spMk id="2" creationId="{35440D96-BFFB-05BD-30ED-0352500CD058}"/>
          </ac:spMkLst>
        </pc:spChg>
        <pc:spChg chg="add mod">
          <ac:chgData name="Angel Vences" userId="d326250db12e4617" providerId="LiveId" clId="{2E9249DA-4D3A-4C7E-A8C5-E071A86CCF78}" dt="2026-09-24T22:55:34.571" v="45" actId="1076"/>
          <ac:spMkLst>
            <pc:docMk/>
            <pc:sldMk cId="2945390068" sldId="314"/>
            <ac:spMk id="3" creationId="{39208F87-90AE-A13A-BA6C-3AE459D4FEDD}"/>
          </ac:spMkLst>
        </pc:spChg>
      </pc:sldChg>
      <pc:sldChg chg="addSp delSp modSp mod">
        <pc:chgData name="Angel Vences" userId="d326250db12e4617" providerId="LiveId" clId="{2E9249DA-4D3A-4C7E-A8C5-E071A86CCF78}" dt="2026-09-24T22:58:40.537" v="96" actId="1076"/>
        <pc:sldMkLst>
          <pc:docMk/>
          <pc:sldMk cId="56176599" sldId="317"/>
        </pc:sldMkLst>
        <pc:spChg chg="add del mod">
          <ac:chgData name="Angel Vences" userId="d326250db12e4617" providerId="LiveId" clId="{2E9249DA-4D3A-4C7E-A8C5-E071A86CCF78}" dt="2026-09-24T22:58:35.854" v="95"/>
          <ac:spMkLst>
            <pc:docMk/>
            <pc:sldMk cId="56176599" sldId="317"/>
            <ac:spMk id="2" creationId="{CC893D4A-2E85-C080-5640-D7C98C97A14D}"/>
          </ac:spMkLst>
        </pc:spChg>
        <pc:spChg chg="mod">
          <ac:chgData name="Angel Vences" userId="d326250db12e4617" providerId="LiveId" clId="{2E9249DA-4D3A-4C7E-A8C5-E071A86CCF78}" dt="2026-09-24T22:58:40.537" v="96" actId="1076"/>
          <ac:spMkLst>
            <pc:docMk/>
            <pc:sldMk cId="56176599" sldId="317"/>
            <ac:spMk id="15" creationId="{527FEC5F-EF10-6B2B-6E35-BDBE1030C7A1}"/>
          </ac:spMkLst>
        </pc:spChg>
      </pc:sldChg>
      <pc:sldChg chg="ord">
        <pc:chgData name="Angel Vences" userId="d326250db12e4617" providerId="LiveId" clId="{2E9249DA-4D3A-4C7E-A8C5-E071A86CCF78}" dt="2026-09-24T23:00:45.646" v="100"/>
        <pc:sldMkLst>
          <pc:docMk/>
          <pc:sldMk cId="3152437535" sldId="32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46CFD56-E74D-46D7-A822-3A365FC491DB}" type="datetime1">
              <a:rPr lang="es-ES" smtClean="0"/>
              <a:t>24/09/2026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4BF9A36D-7FAC-478F-9944-F324014F6F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D8ACD52-3BC9-4181-9014-67395FAB9A59}" type="datetime1">
              <a:rPr lang="es-ES" smtClean="0"/>
              <a:t>24/09/2026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D4B9A9E5-4F7F-4A7D-9DE1-8992323292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17676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es-ES" sz="2000"/>
            </a:lvl1pPr>
            <a:lvl2pPr>
              <a:lnSpc>
                <a:spcPct val="120000"/>
              </a:lnSpc>
              <a:defRPr lang="es-ES" sz="1800"/>
            </a:lvl2pPr>
            <a:lvl3pPr>
              <a:lnSpc>
                <a:spcPct val="120000"/>
              </a:lnSpc>
              <a:defRPr lang="es-ES" sz="1600"/>
            </a:lvl3pPr>
            <a:lvl4pPr>
              <a:lnSpc>
                <a:spcPct val="120000"/>
              </a:lnSpc>
              <a:defRPr lang="es-ES" sz="1400"/>
            </a:lvl4pPr>
            <a:lvl5pPr>
              <a:lnSpc>
                <a:spcPct val="120000"/>
              </a:lnSpc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ión gener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es-ES" sz="48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s-ES" sz="2000"/>
            </a:lvl1pPr>
            <a:lvl2pPr marL="457200" indent="0">
              <a:buNone/>
              <a:defRPr lang="es-ES" sz="1800"/>
            </a:lvl2pPr>
            <a:lvl3pPr marL="914400" indent="0">
              <a:buNone/>
              <a:defRPr lang="es-ES" sz="1600"/>
            </a:lvl3pPr>
            <a:lvl4pPr marL="1371600" indent="0">
              <a:buNone/>
              <a:defRPr lang="es-ES" sz="1400"/>
            </a:lvl4pPr>
            <a:lvl5pPr marL="1828800" indent="0">
              <a:buNone/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e imagen a la izquierda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MX"/>
              <a:t>Haz clic para modificar el estilo de título del patrón</a:t>
            </a:r>
            <a:endParaRPr lang="es-ES" dirty="0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9" name="Marcador de contenido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es-ES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1"/>
            </a:lvl1pPr>
            <a:lvl2pPr>
              <a:spcBef>
                <a:spcPts val="0"/>
              </a:spcBef>
              <a:spcAft>
                <a:spcPts val="1200"/>
              </a:spcAft>
              <a:defRPr lang="es-ES" sz="1800" b="1"/>
            </a:lvl2pPr>
            <a:lvl3pPr>
              <a:spcBef>
                <a:spcPts val="0"/>
              </a:spcBef>
              <a:spcAft>
                <a:spcPts val="1200"/>
              </a:spcAft>
              <a:defRPr lang="es-ES" sz="1600" b="1"/>
            </a:lvl3pPr>
            <a:lvl4pPr>
              <a:spcBef>
                <a:spcPts val="0"/>
              </a:spcBef>
              <a:spcAft>
                <a:spcPts val="1200"/>
              </a:spcAft>
              <a:defRPr lang="es-ES" sz="1400" b="1"/>
            </a:lvl4pPr>
            <a:lvl5pPr>
              <a:spcBef>
                <a:spcPts val="0"/>
              </a:spcBef>
              <a:spcAft>
                <a:spcPts val="1200"/>
              </a:spcAft>
              <a:defRPr lang="es-ES" sz="1400" b="1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e imagen a la derech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0"/>
            </a:lvl1pPr>
            <a:lvl2pPr>
              <a:spcBef>
                <a:spcPts val="0"/>
              </a:spcBef>
              <a:spcAft>
                <a:spcPts val="1200"/>
              </a:spcAft>
              <a:defRPr lang="es-ES" sz="1800" b="0"/>
            </a:lvl2pPr>
            <a:lvl3pPr>
              <a:spcBef>
                <a:spcPts val="0"/>
              </a:spcBef>
              <a:spcAft>
                <a:spcPts val="1200"/>
              </a:spcAft>
              <a:defRPr lang="es-ES" sz="1600" b="0"/>
            </a:lvl3pPr>
            <a:lvl4pPr>
              <a:spcBef>
                <a:spcPts val="0"/>
              </a:spcBef>
              <a:spcAft>
                <a:spcPts val="1200"/>
              </a:spcAft>
              <a:defRPr lang="es-ES" sz="1400" b="0"/>
            </a:lvl4pPr>
            <a:lvl5pPr>
              <a:spcBef>
                <a:spcPts val="0"/>
              </a:spcBef>
              <a:spcAft>
                <a:spcPts val="1200"/>
              </a:spcAft>
              <a:defRPr lang="es-ES" sz="1400" b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es-ES" sz="2000"/>
            </a:lvl1pPr>
          </a:lstStyle>
          <a:p>
            <a:pPr rtl="0"/>
            <a:r>
              <a:rPr lang="es-MX"/>
              <a:t>Haz clic en el icono para agregar una imagen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0"/>
            </a:lvl1pPr>
            <a:lvl2pPr>
              <a:spcBef>
                <a:spcPts val="0"/>
              </a:spcBef>
              <a:spcAft>
                <a:spcPts val="1200"/>
              </a:spcAft>
              <a:defRPr lang="es-ES" sz="1800" b="0"/>
            </a:lvl2pPr>
            <a:lvl3pPr>
              <a:spcBef>
                <a:spcPts val="0"/>
              </a:spcBef>
              <a:spcAft>
                <a:spcPts val="1200"/>
              </a:spcAft>
              <a:defRPr lang="es-ES" sz="1600" b="0"/>
            </a:lvl3pPr>
            <a:lvl4pPr>
              <a:spcBef>
                <a:spcPts val="0"/>
              </a:spcBef>
              <a:spcAft>
                <a:spcPts val="1200"/>
              </a:spcAft>
              <a:defRPr lang="es-ES" sz="1400" b="0"/>
            </a:lvl4pPr>
            <a:lvl5pPr>
              <a:spcBef>
                <a:spcPts val="0"/>
              </a:spcBef>
              <a:spcAft>
                <a:spcPts val="1200"/>
              </a:spcAft>
              <a:defRPr lang="es-ES" sz="1400" b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posición de título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es-ES" sz="2000"/>
            </a:lvl1pPr>
          </a:lstStyle>
          <a:p>
            <a:pPr rtl="0"/>
            <a:r>
              <a:rPr lang="es-ES"/>
              <a:t>Haga clic en el icono para insertar una tabla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es-ES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es-ES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es-ES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es-ES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es-ES" sz="1600" b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es-ES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es-ES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es-ES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es-ES" sz="1400" b="1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posición de tabla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es-ES" sz="2400"/>
            </a:lvl1pPr>
          </a:lstStyle>
          <a:p>
            <a:pPr rtl="0"/>
            <a:r>
              <a:rPr lang="es-MX"/>
              <a:t>Haz clic en el icono para agregar una tabla</a:t>
            </a:r>
            <a:endParaRPr lang="es-ES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s-ES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4" Type="http://schemas.openxmlformats.org/officeDocument/2006/relationships/image" Target="../media/image77.png"/><Relationship Id="rId33" Type="http://schemas.openxmlformats.org/officeDocument/2006/relationships/image" Target="../media/image76.png"/><Relationship Id="rId38" Type="http://schemas.openxmlformats.org/officeDocument/2006/relationships/image" Target="../media/image8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75.png"/><Relationship Id="rId37" Type="http://schemas.openxmlformats.org/officeDocument/2006/relationships/image" Target="../media/image80.png"/><Relationship Id="rId36" Type="http://schemas.openxmlformats.org/officeDocument/2006/relationships/image" Target="../media/image79.png"/><Relationship Id="rId31" Type="http://schemas.openxmlformats.org/officeDocument/2006/relationships/image" Target="../media/image74.png"/><Relationship Id="rId35" Type="http://schemas.openxmlformats.org/officeDocument/2006/relationships/image" Target="../media/image78.png"/></Relationships>
</file>

<file path=ppt/slides/_rels/slide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68.png"/><Relationship Id="rId26" Type="http://schemas.openxmlformats.org/officeDocument/2006/relationships/image" Target="../media/image84.png"/><Relationship Id="rId21" Type="http://schemas.openxmlformats.org/officeDocument/2006/relationships/image" Target="../media/image71.png"/><Relationship Id="rId17" Type="http://schemas.openxmlformats.org/officeDocument/2006/relationships/image" Target="../media/image67.png"/><Relationship Id="rId25" Type="http://schemas.openxmlformats.org/officeDocument/2006/relationships/image" Target="../media/image8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6.png"/><Relationship Id="rId24" Type="http://schemas.openxmlformats.org/officeDocument/2006/relationships/image" Target="../media/image82.png"/><Relationship Id="rId19" Type="http://schemas.openxmlformats.org/officeDocument/2006/relationships/image" Target="../media/image69.png"/><Relationship Id="rId22" Type="http://schemas.openxmlformats.org/officeDocument/2006/relationships/image" Target="../media/image7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10" Type="http://schemas.openxmlformats.org/officeDocument/2006/relationships/image" Target="../media/image15.png"/><Relationship Id="rId9" Type="http://schemas.openxmlformats.org/officeDocument/2006/relationships/image" Target="../media/image8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hyperlink" Target="file:///C:\Users\angve\OneDrive\Desktop\Servicio\sf-harris-servicio-social\docs\freq_optimum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hyperlink" Target="file:///C:\Users\angve\OneDrive\Desktop\Servicio\sf-harris-servicio-social\docs\grid_surfaces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hyperlink" Target="file:///C:\Users\angve\OneDrive\Desktop\Servicio\sf-harris-servicio-social\docs\pstay_compare.html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9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hyperlink" Target="file:///C:\Users\angve\OneDrive\Desktop\Servicio\sf-harris-servicio-social\docs\gig_compare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950661"/>
            <a:ext cx="7531510" cy="32004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Reporte SS </a:t>
            </a:r>
            <a:br>
              <a:rPr lang="es-ES" dirty="0"/>
            </a:br>
            <a:r>
              <a:rPr lang="es-ES" dirty="0"/>
              <a:t>SF-Harris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9208F87-90AE-A13A-BA6C-3AE459D4FEDD}"/>
              </a:ext>
            </a:extLst>
          </p:cNvPr>
          <p:cNvSpPr txBox="1">
            <a:spLocks/>
          </p:cNvSpPr>
          <p:nvPr/>
        </p:nvSpPr>
        <p:spPr>
          <a:xfrm>
            <a:off x="6096000" y="4857136"/>
            <a:ext cx="2762865" cy="6882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800" dirty="0"/>
              <a:t>Angel Vences Adame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2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C1D41206-F8A3-E640-342B-16CF8FED5439}"/>
                  </a:ext>
                </a:extLst>
              </p:cNvPr>
              <p:cNvSpPr/>
              <p:nvPr/>
            </p:nvSpPr>
            <p:spPr>
              <a:xfrm>
                <a:off x="3500220" y="1307529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s-MX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C1D41206-F8A3-E640-342B-16CF8FED5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220" y="1307529"/>
                <a:ext cx="972494" cy="914399"/>
              </a:xfrm>
              <a:prstGeom prst="ellipse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AA5A62DC-145B-7FCD-B0CC-CA434E8CA994}"/>
                  </a:ext>
                </a:extLst>
              </p:cNvPr>
              <p:cNvSpPr/>
              <p:nvPr/>
            </p:nvSpPr>
            <p:spPr>
              <a:xfrm>
                <a:off x="4979974" y="1307529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s-MX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AA5A62DC-145B-7FCD-B0CC-CA434E8CA9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974" y="1307529"/>
                <a:ext cx="972494" cy="914399"/>
              </a:xfrm>
              <a:prstGeom prst="ellipse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069202AF-8B24-2522-4C6B-CB9A9EA8C3D5}"/>
                  </a:ext>
                </a:extLst>
              </p:cNvPr>
              <p:cNvSpPr/>
              <p:nvPr/>
            </p:nvSpPr>
            <p:spPr>
              <a:xfrm>
                <a:off x="6459728" y="1307529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s-MX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069202AF-8B24-2522-4C6B-CB9A9EA8C3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728" y="1307529"/>
                <a:ext cx="972494" cy="914399"/>
              </a:xfrm>
              <a:prstGeom prst="ellipse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678D97D-585A-9702-7BAC-9B44F42B2BEE}"/>
              </a:ext>
            </a:extLst>
          </p:cNvPr>
          <p:cNvCxnSpPr>
            <a:cxnSpLocks/>
          </p:cNvCxnSpPr>
          <p:nvPr/>
        </p:nvCxnSpPr>
        <p:spPr>
          <a:xfrm>
            <a:off x="4561204" y="1764728"/>
            <a:ext cx="294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3524716F-9E8C-FDAB-2A29-03537C08FFA2}"/>
              </a:ext>
            </a:extLst>
          </p:cNvPr>
          <p:cNvCxnSpPr>
            <a:cxnSpLocks/>
          </p:cNvCxnSpPr>
          <p:nvPr/>
        </p:nvCxnSpPr>
        <p:spPr>
          <a:xfrm>
            <a:off x="6060623" y="1764728"/>
            <a:ext cx="294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8866873-2106-8502-599B-FA705F3F69D3}"/>
              </a:ext>
            </a:extLst>
          </p:cNvPr>
          <p:cNvCxnSpPr>
            <a:cxnSpLocks/>
          </p:cNvCxnSpPr>
          <p:nvPr/>
        </p:nvCxnSpPr>
        <p:spPr>
          <a:xfrm>
            <a:off x="3986467" y="2349748"/>
            <a:ext cx="0" cy="39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82D583F4-6D0D-4E16-B723-276728587716}"/>
              </a:ext>
            </a:extLst>
          </p:cNvPr>
          <p:cNvCxnSpPr>
            <a:cxnSpLocks/>
          </p:cNvCxnSpPr>
          <p:nvPr/>
        </p:nvCxnSpPr>
        <p:spPr>
          <a:xfrm>
            <a:off x="5466221" y="2325167"/>
            <a:ext cx="0" cy="39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551F8F32-11D3-2B20-B749-67FC8112E6C5}"/>
              </a:ext>
            </a:extLst>
          </p:cNvPr>
          <p:cNvCxnSpPr>
            <a:cxnSpLocks/>
          </p:cNvCxnSpPr>
          <p:nvPr/>
        </p:nvCxnSpPr>
        <p:spPr>
          <a:xfrm>
            <a:off x="6966089" y="2325167"/>
            <a:ext cx="0" cy="39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096D95D-358D-4C16-0B0B-61687DC6BA5E}"/>
                  </a:ext>
                </a:extLst>
              </p:cNvPr>
              <p:cNvSpPr txBox="1"/>
              <p:nvPr/>
            </p:nvSpPr>
            <p:spPr>
              <a:xfrm>
                <a:off x="421823" y="3969925"/>
                <a:ext cx="7697556" cy="2276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2000" b="1" dirty="0"/>
                  <a:t>Dónde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MX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s-MX" sz="2000" b="1" dirty="0"/>
                  <a:t> es la varianza latente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e>
                      <m:sup>
                        <m:r>
                          <a:rPr lang="es-MX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s-MX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, ∞</m:t>
                        </m:r>
                      </m:e>
                    </m:d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2000" b="1" dirty="0"/>
                  <a:t>del proceso de precios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s-MX" sz="2000" b="1" dirty="0"/>
              </a:p>
              <a:p>
                <a:endParaRPr lang="es-MX" sz="2000" b="1" dirty="0"/>
              </a:p>
              <a:p>
                <a:r>
                  <a:rPr lang="es-MX" sz="2000" b="1" dirty="0"/>
                  <a:t>Con Kernel de transición definido con la dinámica de saltos: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s-MX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MX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s-MX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sup>
                      </m:sSup>
                      <m:sSub>
                        <m:sSubPr>
                          <m:ctrlPr>
                            <a:rPr lang="es-MX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MX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MX" sz="20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s-MX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MX" sz="20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MX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sup>
                          </m:sSup>
                        </m:e>
                      </m:d>
                      <m:r>
                        <a:rPr lang="es-MX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ℚ</m:t>
                      </m:r>
                    </m:oMath>
                  </m:oMathPara>
                </a14:m>
                <a:endParaRPr lang="es-MX" sz="2000" b="1" dirty="0">
                  <a:ea typeface="Cambria Math" panose="02040503050406030204" pitchFamily="18" charset="0"/>
                </a:endParaRPr>
              </a:p>
              <a:p>
                <a:endParaRPr lang="es-MX" sz="2000" b="1" dirty="0">
                  <a:ea typeface="Cambria Math" panose="02040503050406030204" pitchFamily="18" charset="0"/>
                </a:endParaRPr>
              </a:p>
              <a:p>
                <a:r>
                  <a:rPr lang="es-MX" sz="2000" b="1" dirty="0">
                    <a:ea typeface="Cambria Math" panose="02040503050406030204" pitchFamily="18" charset="0"/>
                  </a:rPr>
                  <a:t>Con función de emisión identidad.</a:t>
                </a:r>
              </a:p>
              <a:p>
                <a:endParaRPr lang="es-MX" sz="2000" b="1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096D95D-358D-4C16-0B0B-61687DC6B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23" y="3969925"/>
                <a:ext cx="7697556" cy="2276329"/>
              </a:xfrm>
              <a:prstGeom prst="rect">
                <a:avLst/>
              </a:prstGeom>
              <a:blipFill>
                <a:blip r:embed="rId34"/>
                <a:stretch>
                  <a:fillRect l="-792" t="-133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85BFD955-49DA-10A9-BD0E-41FD13916DB3}"/>
                  </a:ext>
                </a:extLst>
              </p:cNvPr>
              <p:cNvSpPr/>
              <p:nvPr/>
            </p:nvSpPr>
            <p:spPr>
              <a:xfrm>
                <a:off x="3500220" y="2896824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85BFD955-49DA-10A9-BD0E-41FD13916D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220" y="2896824"/>
                <a:ext cx="972494" cy="914399"/>
              </a:xfrm>
              <a:prstGeom prst="ellipse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05029D88-22DD-85F3-B8FC-4AEA8E5455B7}"/>
                  </a:ext>
                </a:extLst>
              </p:cNvPr>
              <p:cNvSpPr/>
              <p:nvPr/>
            </p:nvSpPr>
            <p:spPr>
              <a:xfrm>
                <a:off x="4979974" y="2896824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05029D88-22DD-85F3-B8FC-4AEA8E5455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974" y="2896824"/>
                <a:ext cx="972494" cy="914399"/>
              </a:xfrm>
              <a:prstGeom prst="ellipse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7DA295CE-9B78-726C-47D2-8ECC636F05A3}"/>
                  </a:ext>
                </a:extLst>
              </p:cNvPr>
              <p:cNvSpPr/>
              <p:nvPr/>
            </p:nvSpPr>
            <p:spPr>
              <a:xfrm>
                <a:off x="6459728" y="2896824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7DA295CE-9B78-726C-47D2-8ECC636F05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728" y="2896824"/>
                <a:ext cx="972494" cy="914399"/>
              </a:xfrm>
              <a:prstGeom prst="ellipse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5A25E68C-C871-B6D2-BDD5-7E7797B05AF8}"/>
                  </a:ext>
                </a:extLst>
              </p:cNvPr>
              <p:cNvSpPr txBox="1"/>
              <p:nvPr/>
            </p:nvSpPr>
            <p:spPr>
              <a:xfrm>
                <a:off x="412955" y="5882046"/>
                <a:ext cx="790325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2000" b="1" dirty="0"/>
                  <a:t>Tal que 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2000" b="1" i="1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s-MX" sz="2000" b="1" dirty="0"/>
                  <a:t>sea una observación “con ruido” de la volatilidad spot.</a:t>
                </a:r>
              </a:p>
              <a:p>
                <a:endParaRPr lang="es-MX" sz="2000" b="1" dirty="0"/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5A25E68C-C871-B6D2-BDD5-7E7797B05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55" y="5882046"/>
                <a:ext cx="7903254" cy="707886"/>
              </a:xfrm>
              <a:prstGeom prst="rect">
                <a:avLst/>
              </a:prstGeom>
              <a:blipFill>
                <a:blip r:embed="rId38"/>
                <a:stretch>
                  <a:fillRect l="-849" t="-5172" r="-84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CuadroTexto 59">
            <a:extLst>
              <a:ext uri="{FF2B5EF4-FFF2-40B4-BE49-F238E27FC236}">
                <a16:creationId xmlns:a16="http://schemas.microsoft.com/office/drawing/2014/main" id="{64653C14-0F55-C9BD-9BA4-B75BDE744CDF}"/>
              </a:ext>
            </a:extLst>
          </p:cNvPr>
          <p:cNvSpPr txBox="1"/>
          <p:nvPr/>
        </p:nvSpPr>
        <p:spPr>
          <a:xfrm>
            <a:off x="505398" y="791106"/>
            <a:ext cx="39655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/>
              <a:t>Planteamos a priori el SSM como:</a:t>
            </a: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F57A77BF-1CCD-BA88-D25A-7C1F402B9227}"/>
              </a:ext>
            </a:extLst>
          </p:cNvPr>
          <p:cNvCxnSpPr>
            <a:cxnSpLocks/>
          </p:cNvCxnSpPr>
          <p:nvPr/>
        </p:nvCxnSpPr>
        <p:spPr>
          <a:xfrm>
            <a:off x="7628868" y="1764728"/>
            <a:ext cx="294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CuadroTexto 64">
            <a:extLst>
              <a:ext uri="{FF2B5EF4-FFF2-40B4-BE49-F238E27FC236}">
                <a16:creationId xmlns:a16="http://schemas.microsoft.com/office/drawing/2014/main" id="{F7BEC86F-2578-B812-880C-0935F22B66EC}"/>
              </a:ext>
            </a:extLst>
          </p:cNvPr>
          <p:cNvSpPr txBox="1"/>
          <p:nvPr/>
        </p:nvSpPr>
        <p:spPr>
          <a:xfrm>
            <a:off x="8120482" y="156467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/>
              <a:t>…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B4D1FD-CDC0-6CDE-78D5-5C46C3E2A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1" y="69737"/>
            <a:ext cx="3941771" cy="563464"/>
          </a:xfrm>
        </p:spPr>
        <p:txBody>
          <a:bodyPr/>
          <a:lstStyle/>
          <a:p>
            <a:r>
              <a:rPr lang="es-MX" dirty="0"/>
              <a:t>State-</a:t>
            </a:r>
            <a:r>
              <a:rPr lang="es-MX" dirty="0" err="1"/>
              <a:t>space</a:t>
            </a:r>
            <a:r>
              <a:rPr lang="es-MX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5DBCD-97E1-606E-F506-AE95C91D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EAF4D16-F0BF-219D-7088-01A342C56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3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471703F2-CD91-5060-8615-C014514AF42F}"/>
                  </a:ext>
                </a:extLst>
              </p:cNvPr>
              <p:cNvSpPr/>
              <p:nvPr/>
            </p:nvSpPr>
            <p:spPr>
              <a:xfrm>
                <a:off x="3052469" y="452283"/>
                <a:ext cx="1307671" cy="124869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s-MX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471703F2-CD91-5060-8615-C014514AF4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469" y="452283"/>
                <a:ext cx="1307671" cy="1248697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DA0EDA98-1D65-6955-C9C4-C1E98111F3BF}"/>
              </a:ext>
            </a:extLst>
          </p:cNvPr>
          <p:cNvCxnSpPr>
            <a:cxnSpLocks/>
          </p:cNvCxnSpPr>
          <p:nvPr/>
        </p:nvCxnSpPr>
        <p:spPr>
          <a:xfrm>
            <a:off x="4552336" y="1007805"/>
            <a:ext cx="294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00C25D7-5DE0-3FD9-0764-4FECEBCF4620}"/>
              </a:ext>
            </a:extLst>
          </p:cNvPr>
          <p:cNvCxnSpPr>
            <a:cxnSpLocks/>
          </p:cNvCxnSpPr>
          <p:nvPr/>
        </p:nvCxnSpPr>
        <p:spPr>
          <a:xfrm>
            <a:off x="6642139" y="993055"/>
            <a:ext cx="294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B3DB0EAC-4D05-AF1E-02E7-3668181AB1B6}"/>
              </a:ext>
            </a:extLst>
          </p:cNvPr>
          <p:cNvCxnSpPr>
            <a:cxnSpLocks/>
          </p:cNvCxnSpPr>
          <p:nvPr/>
        </p:nvCxnSpPr>
        <p:spPr>
          <a:xfrm>
            <a:off x="3706304" y="1724177"/>
            <a:ext cx="0" cy="39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549A61C-B1A8-454C-1749-7EA1A95906BA}"/>
              </a:ext>
            </a:extLst>
          </p:cNvPr>
          <p:cNvCxnSpPr>
            <a:cxnSpLocks/>
          </p:cNvCxnSpPr>
          <p:nvPr/>
        </p:nvCxnSpPr>
        <p:spPr>
          <a:xfrm>
            <a:off x="5806392" y="1675327"/>
            <a:ext cx="0" cy="39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AC059F4C-CA22-D187-91AB-5F03649AF285}"/>
              </a:ext>
            </a:extLst>
          </p:cNvPr>
          <p:cNvCxnSpPr>
            <a:cxnSpLocks/>
          </p:cNvCxnSpPr>
          <p:nvPr/>
        </p:nvCxnSpPr>
        <p:spPr>
          <a:xfrm>
            <a:off x="7590942" y="1700980"/>
            <a:ext cx="0" cy="39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FB39113D-612A-7D69-6C6E-C7FD96A36774}"/>
                  </a:ext>
                </a:extLst>
              </p:cNvPr>
              <p:cNvSpPr txBox="1"/>
              <p:nvPr/>
            </p:nvSpPr>
            <p:spPr>
              <a:xfrm>
                <a:off x="771529" y="3603646"/>
                <a:ext cx="45166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s-MX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sz="2000" b="1" i="1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MX" sz="2000" b="1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sup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s-MX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2000" b="1" i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sz="2000" b="1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s-MX" sz="2000" dirty="0"/>
                  <a:t> ……………...      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(0,1)</m:t>
                    </m:r>
                  </m:oMath>
                </a14:m>
                <a:endParaRPr lang="es-MX" sz="200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FB39113D-612A-7D69-6C6E-C7FD96A36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29" y="3603646"/>
                <a:ext cx="4516621" cy="400110"/>
              </a:xfrm>
              <a:prstGeom prst="rect">
                <a:avLst/>
              </a:prstGeom>
              <a:blipFill>
                <a:blip r:embed="rId11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5BE3FD34-142A-72D1-96FB-A692C88B6B35}"/>
                  </a:ext>
                </a:extLst>
              </p:cNvPr>
              <p:cNvSpPr/>
              <p:nvPr/>
            </p:nvSpPr>
            <p:spPr>
              <a:xfrm>
                <a:off x="3220057" y="2117467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5BE3FD34-142A-72D1-96FB-A692C88B6B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057" y="2117467"/>
                <a:ext cx="972494" cy="914399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2752A84E-D003-0A07-931C-C218BC9539A8}"/>
                  </a:ext>
                </a:extLst>
              </p:cNvPr>
              <p:cNvSpPr/>
              <p:nvPr/>
            </p:nvSpPr>
            <p:spPr>
              <a:xfrm>
                <a:off x="5319695" y="2067774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2752A84E-D003-0A07-931C-C218BC9539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695" y="2067774"/>
                <a:ext cx="972494" cy="914399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09ECA887-40FB-5B04-8A72-FC2485DBA079}"/>
                  </a:ext>
                </a:extLst>
              </p:cNvPr>
              <p:cNvSpPr/>
              <p:nvPr/>
            </p:nvSpPr>
            <p:spPr>
              <a:xfrm>
                <a:off x="7026957" y="2117467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09ECA887-40FB-5B04-8A72-FC2485DBA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957" y="2117467"/>
                <a:ext cx="972494" cy="914399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74186F26-2BD3-6736-E9F3-DA2AC70F4BE6}"/>
              </a:ext>
            </a:extLst>
          </p:cNvPr>
          <p:cNvCxnSpPr>
            <a:cxnSpLocks/>
          </p:cNvCxnSpPr>
          <p:nvPr/>
        </p:nvCxnSpPr>
        <p:spPr>
          <a:xfrm>
            <a:off x="8329295" y="993055"/>
            <a:ext cx="294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CuadroTexto 64">
            <a:extLst>
              <a:ext uri="{FF2B5EF4-FFF2-40B4-BE49-F238E27FC236}">
                <a16:creationId xmlns:a16="http://schemas.microsoft.com/office/drawing/2014/main" id="{39FDF066-F525-B236-B09C-1E2D6D12AE4D}"/>
              </a:ext>
            </a:extLst>
          </p:cNvPr>
          <p:cNvSpPr txBox="1"/>
          <p:nvPr/>
        </p:nvSpPr>
        <p:spPr>
          <a:xfrm>
            <a:off x="8673425" y="807750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A07CB91-F3A3-7341-0B39-E6D0B95C0635}"/>
                  </a:ext>
                </a:extLst>
              </p:cNvPr>
              <p:cNvSpPr txBox="1"/>
              <p:nvPr/>
            </p:nvSpPr>
            <p:spPr>
              <a:xfrm>
                <a:off x="2097111" y="5413820"/>
                <a:ext cx="1712456" cy="4116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MX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s-MX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MX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A07CB91-F3A3-7341-0B39-E6D0B95C0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111" y="5413820"/>
                <a:ext cx="1712456" cy="411651"/>
              </a:xfrm>
              <a:prstGeom prst="rect">
                <a:avLst/>
              </a:prstGeom>
              <a:blipFill>
                <a:blip r:embed="rId24"/>
                <a:stretch>
                  <a:fillRect b="-1617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41D9E2C9-6182-088F-583E-19A9249F0813}"/>
              </a:ext>
            </a:extLst>
          </p:cNvPr>
          <p:cNvSpPr txBox="1"/>
          <p:nvPr/>
        </p:nvSpPr>
        <p:spPr>
          <a:xfrm>
            <a:off x="884063" y="3185652"/>
            <a:ext cx="477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Partimos del modelo planteado en BNR, 2004: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9DBF65B9-EB63-03D7-AA8F-D9808F2E59F8}"/>
                  </a:ext>
                </a:extLst>
              </p:cNvPr>
              <p:cNvSpPr/>
              <p:nvPr/>
            </p:nvSpPr>
            <p:spPr>
              <a:xfrm>
                <a:off x="6972462" y="426629"/>
                <a:ext cx="1307671" cy="124869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s-MX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9DBF65B9-EB63-03D7-AA8F-D9808F2E5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462" y="426629"/>
                <a:ext cx="1307671" cy="1248697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FCFC6DA6-DB8A-2E51-5750-DBC7867E4F36}"/>
                  </a:ext>
                </a:extLst>
              </p:cNvPr>
              <p:cNvSpPr/>
              <p:nvPr/>
            </p:nvSpPr>
            <p:spPr>
              <a:xfrm>
                <a:off x="5152107" y="426630"/>
                <a:ext cx="1307671" cy="124869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s-MX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s-MX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b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s-MX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FCFC6DA6-DB8A-2E51-5750-DBC7867E4F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107" y="426630"/>
                <a:ext cx="1307671" cy="1248697"/>
              </a:xfrm>
              <a:prstGeom prst="ellipse">
                <a:avLst/>
              </a:prstGeom>
              <a:blipFill>
                <a:blip r:embed="rId22"/>
                <a:stretch>
                  <a:fillRect l="-322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81F3561-3A41-525E-975E-76EF37E6E583}"/>
                  </a:ext>
                </a:extLst>
              </p:cNvPr>
              <p:cNvSpPr txBox="1"/>
              <p:nvPr/>
            </p:nvSpPr>
            <p:spPr>
              <a:xfrm>
                <a:off x="656698" y="4636027"/>
                <a:ext cx="6542560" cy="622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2000" dirty="0"/>
                  <a:t>Y así definimos las observaciones</a:t>
                </a:r>
                <a:r>
                  <a:rPr lang="es-MX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s-MX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MX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s-MX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sz="20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s-MX" sz="2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e>
                          <m:sup>
                            <m:r>
                              <a:rPr lang="es-MX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b="1" dirty="0"/>
                  <a:t> </a:t>
                </a:r>
                <a:r>
                  <a:rPr lang="es-MX" sz="2000" dirty="0"/>
                  <a:t>tal que:</a:t>
                </a: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81F3561-3A41-525E-975E-76EF37E6E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98" y="4636027"/>
                <a:ext cx="6542560" cy="622863"/>
              </a:xfrm>
              <a:prstGeom prst="rect">
                <a:avLst/>
              </a:prstGeom>
              <a:blipFill>
                <a:blip r:embed="rId25"/>
                <a:stretch>
                  <a:fillRect l="-1025" r="-9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756FE16-683E-717B-4E0F-C4D88567BA11}"/>
                  </a:ext>
                </a:extLst>
              </p:cNvPr>
              <p:cNvSpPr txBox="1"/>
              <p:nvPr/>
            </p:nvSpPr>
            <p:spPr>
              <a:xfrm>
                <a:off x="656698" y="4203767"/>
                <a:ext cx="100204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2000" dirty="0"/>
                  <a:t>Y 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2000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sz="20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2000" dirty="0"/>
                  <a:t>es la función de periodicidad intradía de la volatilidad, asociada a la </a:t>
                </a:r>
                <a:r>
                  <a:rPr lang="es-MX" sz="2000" b="1" dirty="0"/>
                  <a:t>U-Shape</a:t>
                </a: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756FE16-683E-717B-4E0F-C4D88567B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98" y="4203767"/>
                <a:ext cx="10020435" cy="400110"/>
              </a:xfrm>
              <a:prstGeom prst="rect">
                <a:avLst/>
              </a:prstGeom>
              <a:blipFill>
                <a:blip r:embed="rId26"/>
                <a:stretch>
                  <a:fillRect l="-670" t="-9231" b="-2769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1079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6"/>
            <a:ext cx="5102942" cy="639710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Data transformation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7F50E02-3845-1917-866A-54AC060DE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smtClean="0"/>
              <a:pPr rtl="0">
                <a:spcAft>
                  <a:spcPts val="600"/>
                </a:spcAft>
              </a:pPr>
              <a:t>4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FFC0D0A-0F7B-542F-C328-569E38B914FD}"/>
                  </a:ext>
                </a:extLst>
              </p:cNvPr>
              <p:cNvSpPr txBox="1"/>
              <p:nvPr/>
            </p:nvSpPr>
            <p:spPr>
              <a:xfrm>
                <a:off x="655839" y="1004836"/>
                <a:ext cx="8885702" cy="1267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/>
                  <a:t>1. A partir de los precios 15-min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/>
                  <a:t>, calculamos los log-retornos:=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MX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MX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s-MX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s-MX" dirty="0"/>
                  <a:t>.</a:t>
                </a:r>
              </a:p>
              <a:p>
                <a:r>
                  <a:rPr lang="es-MX" dirty="0"/>
                  <a:t>2. Posteriormente suavizamos la serie restando una fracción de la variación cuadrática.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MX" i="1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Sup>
                        <m:sSubSup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MX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MX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MX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s-MX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s-MX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FFC0D0A-0F7B-542F-C328-569E38B91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39" y="1004836"/>
                <a:ext cx="8885702" cy="1267526"/>
              </a:xfrm>
              <a:prstGeom prst="rect">
                <a:avLst/>
              </a:prstGeom>
              <a:blipFill>
                <a:blip r:embed="rId9"/>
                <a:stretch>
                  <a:fillRect l="-61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FFA6DFEF-0F53-A230-272E-E641A82801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8122" y="2348063"/>
            <a:ext cx="8885701" cy="447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340F1-0A21-03AD-3692-8822A34D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3B11B-8E52-6BD0-C725-DA1357D17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6"/>
            <a:ext cx="5102942" cy="639710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Data transformation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60A20A5B-1BAD-5953-97B7-E032495E70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smtClean="0"/>
              <a:pPr rtl="0">
                <a:spcAft>
                  <a:spcPts val="600"/>
                </a:spcAft>
              </a:pPr>
              <a:t>5</a:t>
            </a:fld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09BC023-305B-8457-FA4E-BD2276283F48}"/>
              </a:ext>
            </a:extLst>
          </p:cNvPr>
          <p:cNvSpPr txBox="1"/>
          <p:nvPr/>
        </p:nvSpPr>
        <p:spPr>
          <a:xfrm>
            <a:off x="469027" y="1140025"/>
            <a:ext cx="4320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3. Removemos x% escogido de los outliers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6F7B862-8A44-A3BF-9D2F-80564B150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04" y="2013878"/>
            <a:ext cx="11420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55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51C62-7D24-28E1-52F1-91DA55D0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Intraday</a:t>
            </a:r>
            <a:r>
              <a:rPr lang="es-MX" dirty="0"/>
              <a:t> </a:t>
            </a:r>
            <a:r>
              <a:rPr lang="es-MX" dirty="0" err="1"/>
              <a:t>periodicity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1DA39003-AAEE-86FF-4AA8-CBA0900D7085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385535" y="2121323"/>
                <a:ext cx="4992709" cy="37471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Para tratar la U-Shape y la no estacionariedad, dividimos los datos entre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MX" b="0" i="1" smtClean="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s-MX" dirty="0"/>
                  <a:t> la función empírica que a cada intervalo de tiempo le asocia el valor promedio de la volatilidad para todo el </a:t>
                </a:r>
                <a:r>
                  <a:rPr lang="es-MX" dirty="0" err="1"/>
                  <a:t>train</a:t>
                </a:r>
                <a:r>
                  <a:rPr lang="es-MX" dirty="0"/>
                  <a:t>.</a:t>
                </a:r>
              </a:p>
              <a:p>
                <a:pPr marL="0" indent="0">
                  <a:buNone/>
                </a:pPr>
                <a:r>
                  <a:rPr lang="es-MX" dirty="0"/>
                  <a:t>Así definimos los retornos ajustados: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MX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̂"/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1DA39003-AAEE-86FF-4AA8-CBA0900D7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385535" y="2121323"/>
                <a:ext cx="4992709" cy="3747180"/>
              </a:xfrm>
              <a:blipFill>
                <a:blip r:embed="rId2"/>
                <a:stretch>
                  <a:fillRect l="-1221" t="-1789" r="-122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CB1279C-F1ED-288D-0FA5-343B7E77B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6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D4C870B-2075-C79B-9DC9-057CEE65A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712" y="2235140"/>
            <a:ext cx="6613461" cy="30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17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A2E0E-2AF1-326B-78F9-25B6FD628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0AE80-B5C1-2CDC-AECB-6F4EEF1EA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1006" y="-358022"/>
            <a:ext cx="4689987" cy="162960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Intraday Periodicity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CBDE367-0036-B87E-84D5-E084172E9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7889" y="6500269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7</a:t>
            </a:fld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F0157B6-7F2D-2C0E-FB89-B5CACE787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54" y="760301"/>
            <a:ext cx="10006194" cy="4621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07F5F2D-555B-5214-7F15-0BAF25EB8E4B}"/>
                  </a:ext>
                </a:extLst>
              </p:cNvPr>
              <p:cNvSpPr txBox="1"/>
              <p:nvPr/>
            </p:nvSpPr>
            <p:spPr>
              <a:xfrm>
                <a:off x="6936656" y="5444768"/>
                <a:ext cx="5491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s-MX" dirty="0"/>
                  <a:t> generada a partir de los datos de todo el </a:t>
                </a:r>
                <a:r>
                  <a:rPr lang="es-MX" dirty="0" err="1"/>
                  <a:t>train</a:t>
                </a:r>
                <a:r>
                  <a:rPr lang="es-MX" dirty="0"/>
                  <a:t>.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07F5F2D-555B-5214-7F15-0BAF25EB8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656" y="5444768"/>
                <a:ext cx="5491317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25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26163" y="4172990"/>
            <a:ext cx="4805997" cy="238973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Producto innovador con un diseño atractivo, elegante y funcional.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7328F86-DEDB-EFE8-89C9-1F6AF0D9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208" y="422922"/>
            <a:ext cx="9133952" cy="772599"/>
          </a:xfrm>
        </p:spPr>
        <p:txBody>
          <a:bodyPr/>
          <a:lstStyle/>
          <a:p>
            <a:r>
              <a:rPr lang="es-MX" dirty="0"/>
              <a:t>Alternativa Calendar bars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B315A7F-FEFC-F373-676E-818687F90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380" y="1470922"/>
            <a:ext cx="6802128" cy="445959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3894BDA3-4721-8220-DF84-8AFB8F5B6D4E}"/>
              </a:ext>
            </a:extLst>
          </p:cNvPr>
          <p:cNvSpPr txBox="1"/>
          <p:nvPr/>
        </p:nvSpPr>
        <p:spPr>
          <a:xfrm>
            <a:off x="226142" y="2546555"/>
            <a:ext cx="53152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Construcción de Calendar Bars (Test Branch) para</a:t>
            </a:r>
          </a:p>
          <a:p>
            <a:r>
              <a:rPr lang="es-MX" dirty="0"/>
              <a:t>corregir U-Shape.</a:t>
            </a:r>
          </a:p>
          <a:p>
            <a:endParaRPr lang="es-MX" dirty="0"/>
          </a:p>
          <a:p>
            <a:r>
              <a:rPr lang="es-MX" dirty="0"/>
              <a:t>Basado en el volumen del día anterior, construimos</a:t>
            </a:r>
          </a:p>
          <a:p>
            <a:r>
              <a:rPr lang="es-MX" dirty="0" err="1"/>
              <a:t>Volume</a:t>
            </a:r>
            <a:r>
              <a:rPr lang="es-MX" dirty="0"/>
              <a:t> </a:t>
            </a:r>
            <a:r>
              <a:rPr lang="es-MX" dirty="0" err="1"/>
              <a:t>buckets</a:t>
            </a:r>
            <a:r>
              <a:rPr lang="es-MX" dirty="0"/>
              <a:t> para tener “n” barras por día. </a:t>
            </a:r>
          </a:p>
          <a:p>
            <a:endParaRPr lang="es-MX" dirty="0"/>
          </a:p>
          <a:p>
            <a:r>
              <a:rPr lang="es-MX" dirty="0"/>
              <a:t>Comparando; al usar barras Calendario de 15-min,</a:t>
            </a:r>
          </a:p>
          <a:p>
            <a:r>
              <a:rPr lang="es-MX" dirty="0"/>
              <a:t>tendremos ~26 barras en el día.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27FEC5F-EF10-6B2B-6E35-BDBE1030C7A1}"/>
              </a:ext>
            </a:extLst>
          </p:cNvPr>
          <p:cNvSpPr txBox="1"/>
          <p:nvPr/>
        </p:nvSpPr>
        <p:spPr>
          <a:xfrm>
            <a:off x="6358415" y="6065746"/>
            <a:ext cx="5833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hlinkClick r:id="rId4"/>
              </a:rPr>
              <a:t>AAD vs frecuencia — ¿óptimo ni muy fino ni muy grueso?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9</a:t>
            </a:fld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8D6CB12-B35C-7D19-348D-B5050CDA8C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018"/>
          <a:stretch>
            <a:fillRect/>
          </a:stretch>
        </p:blipFill>
        <p:spPr>
          <a:xfrm>
            <a:off x="615659" y="782021"/>
            <a:ext cx="2761449" cy="425994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7315EF6-511B-881D-5BE4-E57122B64650}"/>
              </a:ext>
            </a:extLst>
          </p:cNvPr>
          <p:cNvSpPr txBox="1"/>
          <p:nvPr/>
        </p:nvSpPr>
        <p:spPr>
          <a:xfrm>
            <a:off x="6246333" y="5244075"/>
            <a:ext cx="594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hlinkClick r:id="rId4"/>
              </a:rPr>
              <a:t>AAD 3D — </a:t>
            </a:r>
            <a:r>
              <a:rPr lang="es-MX" dirty="0" err="1">
                <a:hlinkClick r:id="rId4"/>
              </a:rPr>
              <a:t>grid</a:t>
            </a:r>
            <a:r>
              <a:rPr lang="es-MX" dirty="0">
                <a:hlinkClick r:id="rId4"/>
              </a:rPr>
              <a:t> (barras/día × %</a:t>
            </a:r>
            <a:r>
              <a:rPr lang="es-MX" dirty="0" err="1">
                <a:hlinkClick r:id="rId4"/>
              </a:rPr>
              <a:t>removal</a:t>
            </a:r>
            <a:r>
              <a:rPr lang="es-MX" dirty="0">
                <a:hlinkClick r:id="rId4"/>
              </a:rPr>
              <a:t>) calendar vs </a:t>
            </a:r>
            <a:r>
              <a:rPr lang="es-MX" dirty="0" err="1">
                <a:hlinkClick r:id="rId4"/>
              </a:rPr>
              <a:t>dollar</a:t>
            </a:r>
            <a:endParaRPr lang="es-MX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8E27710-F863-9D35-EBB1-5F5E5CC23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256" t="3095" r="21755"/>
          <a:stretch>
            <a:fillRect/>
          </a:stretch>
        </p:blipFill>
        <p:spPr>
          <a:xfrm>
            <a:off x="3377108" y="782021"/>
            <a:ext cx="3048000" cy="425154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2AC269F-6FBD-220D-91B0-5D4D4C7A23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396" t="563"/>
          <a:stretch>
            <a:fillRect/>
          </a:stretch>
        </p:blipFill>
        <p:spPr>
          <a:xfrm>
            <a:off x="6425108" y="782021"/>
            <a:ext cx="2184652" cy="4259949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FF76133A-171F-8C23-155E-442DCEDA8346}"/>
              </a:ext>
            </a:extLst>
          </p:cNvPr>
          <p:cNvSpPr txBox="1"/>
          <p:nvPr/>
        </p:nvSpPr>
        <p:spPr>
          <a:xfrm>
            <a:off x="790562" y="5613407"/>
            <a:ext cx="104870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Corrimos un </a:t>
            </a:r>
            <a:r>
              <a:rPr lang="es-MX" dirty="0" err="1"/>
              <a:t>Grid</a:t>
            </a:r>
            <a:r>
              <a:rPr lang="es-MX" dirty="0"/>
              <a:t>-Search (%umbral cleaning, bars per </a:t>
            </a:r>
            <a:r>
              <a:rPr lang="es-MX" dirty="0" err="1"/>
              <a:t>day</a:t>
            </a:r>
            <a:r>
              <a:rPr lang="es-MX" dirty="0"/>
              <a:t>) -&gt; AAD.</a:t>
            </a:r>
          </a:p>
          <a:p>
            <a:r>
              <a:rPr lang="es-MX" dirty="0"/>
              <a:t>De los 67 modelos obtenidos con AAD &lt;</a:t>
            </a:r>
            <a:r>
              <a:rPr lang="es-MX" b="1" dirty="0"/>
              <a:t>0.8</a:t>
            </a:r>
            <a:r>
              <a:rPr lang="es-MX" dirty="0"/>
              <a:t> tanto IS &amp; OOS; 51 son de Calendar Bars y 16 de Dollar Bars.</a:t>
            </a:r>
          </a:p>
          <a:p>
            <a:endParaRPr lang="es-MX" dirty="0"/>
          </a:p>
        </p:txBody>
      </p:sp>
      <p:sp>
        <p:nvSpPr>
          <p:cNvPr id="17" name="Título 2">
            <a:extLst>
              <a:ext uri="{FF2B5EF4-FFF2-40B4-BE49-F238E27FC236}">
                <a16:creationId xmlns:a16="http://schemas.microsoft.com/office/drawing/2014/main" id="{09A2D855-D490-5879-095B-47A91290B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735" y="9422"/>
            <a:ext cx="9133952" cy="772599"/>
          </a:xfrm>
        </p:spPr>
        <p:txBody>
          <a:bodyPr/>
          <a:lstStyle/>
          <a:p>
            <a:r>
              <a:rPr lang="es-MX" dirty="0"/>
              <a:t>Dollar vs Calendar bars</a:t>
            </a:r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413" y="406240"/>
            <a:ext cx="4827638" cy="90759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Meseta óptima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54835" y="1528329"/>
            <a:ext cx="7236649" cy="2309726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MX" dirty="0"/>
              <a:t>Después de un análisis de sensibilidad sobre los ejes. La sección de modelos más estable entres IS y OOS son 0.08% cleaning y {8, 13, 26, 78, 390} bpd.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5350E8C-073F-BF0D-A298-E79A17CE1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797"/>
          <a:stretch>
            <a:fillRect/>
          </a:stretch>
        </p:blipFill>
        <p:spPr>
          <a:xfrm>
            <a:off x="5391579" y="3541271"/>
            <a:ext cx="5594555" cy="230972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EBCA458-9D2A-1C89-9FFF-22CB1FDE89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2018"/>
          <a:stretch>
            <a:fillRect/>
          </a:stretch>
        </p:blipFill>
        <p:spPr>
          <a:xfrm>
            <a:off x="1205866" y="2683192"/>
            <a:ext cx="2491063" cy="384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P(Stay):</a:t>
            </a:r>
            <a:br>
              <a:rPr lang="es-ES" dirty="0"/>
            </a:br>
            <a:r>
              <a:rPr lang="es-ES" dirty="0"/>
              <a:t>0 vs 0.387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11</a:t>
            </a:fld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1A136BF-5A59-CC9C-5528-086D3DBB6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08" y="1771506"/>
            <a:ext cx="11678214" cy="3901707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23B3BE9-473E-38E0-2F78-99A7CC290FBD}"/>
              </a:ext>
            </a:extLst>
          </p:cNvPr>
          <p:cNvSpPr txBox="1"/>
          <p:nvPr/>
        </p:nvSpPr>
        <p:spPr>
          <a:xfrm>
            <a:off x="5889523" y="5876922"/>
            <a:ext cx="597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hlinkClick r:id="rId4"/>
              </a:rPr>
              <a:t>p_stay</a:t>
            </a:r>
            <a:r>
              <a:rPr lang="es-MX" dirty="0">
                <a:hlinkClick r:id="rId4"/>
              </a:rPr>
              <a:t>=0 (</a:t>
            </a:r>
            <a:r>
              <a:rPr lang="es-MX" dirty="0" err="1">
                <a:hlinkClick r:id="rId4"/>
              </a:rPr>
              <a:t>iid</a:t>
            </a:r>
            <a:r>
              <a:rPr lang="es-MX" dirty="0">
                <a:hlinkClick r:id="rId4"/>
              </a:rPr>
              <a:t>-Q) vs </a:t>
            </a:r>
            <a:r>
              <a:rPr lang="es-MX" dirty="0" err="1">
                <a:hlinkClick r:id="rId4"/>
              </a:rPr>
              <a:t>fitted</a:t>
            </a:r>
            <a:r>
              <a:rPr lang="es-MX" dirty="0">
                <a:hlinkClick r:id="rId4"/>
              </a:rPr>
              <a:t> </a:t>
            </a:r>
            <a:r>
              <a:rPr lang="es-MX" dirty="0" err="1">
                <a:hlinkClick r:id="rId4"/>
              </a:rPr>
              <a:t>p_stay</a:t>
            </a:r>
            <a:r>
              <a:rPr lang="es-MX" dirty="0">
                <a:hlinkClick r:id="rId4"/>
              </a:rPr>
              <a:t>=0.37 — cal 15-min/0.08%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329C92F-66F4-6D5B-019F-2830AF384CF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MX" dirty="0"/>
                  <a:t>Estimación de </a:t>
                </a:r>
                <a14:m>
                  <m:oMath xmlns:m="http://schemas.openxmlformats.org/officeDocument/2006/math"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s-MX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329C92F-66F4-6D5B-019F-2830AF384C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0DC88F3-85D4-A798-820D-B39DB503AEC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914399" y="1752019"/>
                <a:ext cx="9271820" cy="1586463"/>
              </a:xfrm>
            </p:spPr>
            <p:txBody>
              <a:bodyPr>
                <a:normAutofit/>
              </a:bodyPr>
              <a:lstStyle/>
              <a:p>
                <a:r>
                  <a:rPr lang="es-MX" dirty="0"/>
                  <a:t>Parámetro de salto asociado a P(Stay) y al </a:t>
                </a:r>
                <a14:m>
                  <m:oMath xmlns:m="http://schemas.openxmlformats.org/officeDocument/2006/math"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s-MX" dirty="0"/>
                  <a:t> umbral de salto.</a:t>
                </a:r>
              </a:p>
              <a:p>
                <a:pPr marL="0" indent="0">
                  <a:buNone/>
                </a:pPr>
                <a:r>
                  <a:rPr lang="es-MX" dirty="0"/>
                  <a:t>A través de 8 replicas (</a:t>
                </a:r>
                <a:r>
                  <a:rPr lang="es-MX" dirty="0" err="1"/>
                  <a:t>seeds</a:t>
                </a:r>
                <a:r>
                  <a:rPr lang="es-MX" dirty="0"/>
                  <a:t>) y 5 valores de P(Stay), ningún valor parece agregar capacidad de cobertura.</a:t>
                </a:r>
              </a:p>
              <a:p>
                <a:pPr marL="0" indent="0">
                  <a:buNone/>
                </a:pPr>
                <a:r>
                  <a:rPr lang="es-MX" dirty="0"/>
                  <a:t>(Se </a:t>
                </a:r>
                <a:r>
                  <a:rPr lang="es-MX" dirty="0" err="1"/>
                  <a:t>droppeó</a:t>
                </a:r>
                <a:r>
                  <a:rPr lang="es-MX" dirty="0"/>
                  <a:t> el modelo con 390 bpd en esta iteración por cuestiones de cómputo)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0DC88F3-85D4-A798-820D-B39DB503AE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914399" y="1752019"/>
                <a:ext cx="9271820" cy="1586463"/>
              </a:xfrm>
              <a:blipFill>
                <a:blip r:embed="rId5"/>
                <a:stretch>
                  <a:fillRect l="-657" t="-3831" b="-76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C92E5F7-2E04-E25C-E30B-C68D3BB14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12</a:t>
            </a:fld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0099513-649D-010E-A576-1E471EF0B3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99" y="4049354"/>
            <a:ext cx="8954276" cy="14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37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540" y="-241945"/>
            <a:ext cx="7903150" cy="14487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¿Qué pasa en retornos diarios?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5069" y="890012"/>
            <a:ext cx="10196053" cy="74061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b="1" dirty="0"/>
              <a:t>Si queremos pasar a un gráfico diario, la ventaja de Q-</a:t>
            </a:r>
            <a:r>
              <a:rPr lang="es-ES" b="1" dirty="0" err="1"/>
              <a:t>emp</a:t>
            </a:r>
            <a:r>
              <a:rPr lang="es-ES" b="1" dirty="0"/>
              <a:t> se pierde y regresamos a lo estándar de la literatura. El modelo Log-Normal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13</a:t>
            </a:fld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4E7C30F-1512-E216-9BC7-5F0AD8948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155" y="1744431"/>
            <a:ext cx="9388654" cy="448094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297C3D3-FEDA-68A4-B04C-1E53A47E5C68}"/>
              </a:ext>
            </a:extLst>
          </p:cNvPr>
          <p:cNvSpPr txBox="1"/>
          <p:nvPr/>
        </p:nvSpPr>
        <p:spPr>
          <a:xfrm>
            <a:off x="5181600" y="619841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hlinkClick r:id="rId4"/>
              </a:rPr>
              <a:t>GIG (Inversa Gaussiana Generalizada) — meseta intradía + RV diaria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2" cy="160346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Análisis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3C71586-1388-197C-1294-83D4DD85293E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914399" y="2022250"/>
                <a:ext cx="10726995" cy="3070860"/>
              </a:xfrm>
            </p:spPr>
            <p:txBody>
              <a:bodyPr rtlCol="0"/>
              <a:lstStyle>
                <a:defPPr>
                  <a:defRPr lang="es-ES"/>
                </a:defPPr>
              </a:lstStyle>
              <a:p>
                <a:pPr rtl="0"/>
                <a:r>
                  <a:rPr lang="es-ES" dirty="0"/>
                  <a:t>Al no encontrar evidencia de mejoras en el modelo al considerar una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≠ 0.</m:t>
                    </m:r>
                  </m:oMath>
                </a14:m>
                <a:r>
                  <a:rPr lang="es-ES" noProof="1"/>
                  <a:t> No hay evidencia a favor de sostener el modelo de saltos. Por lo que nuestro Kernel de transición en la variable latente se ve reducido únicamente a remuestrear que Q, cada 15 min. 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3C71586-1388-197C-1294-83D4DD8529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914399" y="2022250"/>
                <a:ext cx="10726995" cy="3070860"/>
              </a:xfrm>
              <a:blipFill>
                <a:blip r:embed="rId3"/>
                <a:stretch>
                  <a:fillRect l="-511" t="-2187" r="-96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Resultados Simulación Q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15</a:t>
            </a:fld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EFB4F15-8D5D-D61B-89D1-940C3A527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27519"/>
            <a:ext cx="9754822" cy="21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ECED9-3D31-C7EF-C4E5-0D218F61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5" y="584477"/>
            <a:ext cx="10354052" cy="120976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Finanzas</a:t>
            </a:r>
          </a:p>
        </p:txBody>
      </p:sp>
      <p:graphicFrame>
        <p:nvGraphicFramePr>
          <p:cNvPr id="5" name="Tabla 9">
            <a:extLst>
              <a:ext uri="{FF2B5EF4-FFF2-40B4-BE49-F238E27FC236}">
                <a16:creationId xmlns:a16="http://schemas.microsoft.com/office/drawing/2014/main" id="{B782709C-FC0C-E355-9C94-A8EE025BAC7B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133369783"/>
              </p:ext>
            </p:extLst>
          </p:nvPr>
        </p:nvGraphicFramePr>
        <p:xfrm>
          <a:off x="923925" y="2009775"/>
          <a:ext cx="10363201" cy="3934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4555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1218263486"/>
                    </a:ext>
                  </a:extLst>
                </a:gridCol>
              </a:tblGrid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Año 1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Año 2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Año 3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Ingresos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lvl="1"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Usuarios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50 000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400 000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1 600 000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lvl="1"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Ventas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500 000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4 000 000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16 000 000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lvl="1"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Precio medio por venta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75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90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lvl="1"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15 % de los ingresos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5 625 000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48 000 000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216 000 000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Beneficio bruto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5 625 000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48 000 000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216 000 000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20011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E50FF3-CE3C-DDFB-B8EA-5BA1668A1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23500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Gracias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Brita Tamm</a:t>
            </a:r>
          </a:p>
          <a:p>
            <a:pPr rtl="0"/>
            <a:r>
              <a:rPr lang="es-ES"/>
              <a:t>502-555-0152</a:t>
            </a:r>
          </a:p>
          <a:p>
            <a:pPr rtl="0"/>
            <a:r>
              <a:rPr lang="es-ES"/>
              <a:t>brita@firstupconsultants.com</a:t>
            </a:r>
          </a:p>
          <a:p>
            <a:pPr rtl="0"/>
            <a:r>
              <a:rPr lang="es-ES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373_TF22318419_Win32" id="{C35A026D-3477-4C90-9128-052FBAE4EBCF}" vid="{4F91F622-3491-4FD9-8658-5CFF78D7702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ventas minimalista</Template>
  <TotalTime>15984</TotalTime>
  <Words>721</Words>
  <Application>Microsoft Office PowerPoint</Application>
  <PresentationFormat>Panorámica</PresentationFormat>
  <Paragraphs>126</Paragraphs>
  <Slides>17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Tenorite</vt:lpstr>
      <vt:lpstr>Personalizar</vt:lpstr>
      <vt:lpstr>Reporte SS  SF-Harris  </vt:lpstr>
      <vt:lpstr>State-space model</vt:lpstr>
      <vt:lpstr>Presentación de PowerPoint</vt:lpstr>
      <vt:lpstr>Data transformation</vt:lpstr>
      <vt:lpstr>Data transformation</vt:lpstr>
      <vt:lpstr>Intraday periodicity</vt:lpstr>
      <vt:lpstr>Intraday Periodicity</vt:lpstr>
      <vt:lpstr>Alternativa Calendar bars</vt:lpstr>
      <vt:lpstr>Dollar vs Calendar bars</vt:lpstr>
      <vt:lpstr>Meseta óptima</vt:lpstr>
      <vt:lpstr>P(Stay): 0 vs 0.387</vt:lpstr>
      <vt:lpstr>Estimación de α</vt:lpstr>
      <vt:lpstr>¿Qué pasa en retornos diarios?</vt:lpstr>
      <vt:lpstr>Análisis</vt:lpstr>
      <vt:lpstr>Resultados Simulación Q</vt:lpstr>
      <vt:lpstr>Finanzas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Vences</dc:creator>
  <cp:lastModifiedBy>ANGEL VENCES ADAME</cp:lastModifiedBy>
  <cp:revision>23</cp:revision>
  <dcterms:created xsi:type="dcterms:W3CDTF">2026-08-11T04:41:45Z</dcterms:created>
  <dcterms:modified xsi:type="dcterms:W3CDTF">2026-09-24T23:00:47Z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