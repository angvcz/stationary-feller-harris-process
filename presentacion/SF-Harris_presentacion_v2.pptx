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 i="0">
                <a:solidFill>
                  <a:srgbClr val="EDEAE3"/>
                </a:solidFill>
                <a:latin typeface="Segoe UI"/>
              </a:rPr>
              <a:t>SF-Harris</a:t>
            </a:r>
          </a:p>
          <a:p>
            <a:pPr algn="l">
              <a:spcAft>
                <a:spcPts val="1800"/>
              </a:spcAft>
            </a:pPr>
            <a:r>
              <a:rPr sz="2600" b="0" i="0">
                <a:solidFill>
                  <a:srgbClr val="2DD4BF"/>
                </a:solidFill>
                <a:latin typeface="Segoe UI"/>
              </a:rPr>
              <a:t>Un modelo estado-espacio con saltos para la estimación de volatilidad spot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9DA8"/>
                </a:solidFill>
                <a:latin typeface="Segoe UI"/>
              </a:rPr>
              <a:t>La idea: estimar la volatilidad spot con una variable latente que se remuestrea de la variación cuadrática empírica Q, y después quitarle componentes con pruebas de hipótesis hasta quedarnos solo con lo que las evidencias respaldan.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Angel Vences · Facultad de Ciencias, UNAM · angelvences@ciencias.unam.mx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I. PLANTEAMIENTO DEL PROBLEMA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Resumen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sz="1800">
                <a:solidFill>
                  <a:srgbClr val="EDEAE3"/>
                </a:solidFill>
                <a:latin typeface="Segoe UI"/>
              </a:rPr>
              <a:t>Estudiamos la estimación de la volatilidad spot σₜ² con datos de 15 minutos. Usamos un modelo estado-espacio cuya variable latente evoluciona con un kernel de salto cuya distribución de salto es la variación cuadrática empírica Q; la inferencia se hace con un esquema de Gibbs sobre el posterior. Después sometemos cada componente del modelo a una prueba de hipótesis y le quitamos las piezas que no pasan. Quedan únicamente dos: el Q empírico y el denoising del posterior. Con esos dos el error absoluto promedio (AAD) en volatilidad spot es de 0.2 puntos porcentuales, contra 0.8 de Anzarut et al. y 3.4 de GARCH.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38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49DA8"/>
                </a:solidFill>
                <a:latin typeface="Segoe UI"/>
              </a:rPr>
              <a:t>Palabras clave: volatilidad spot, modelo estado-espacio, MCMC, variación realizada, selección de modelos.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532120"/>
            <a:ext cx="10881360" cy="12700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9DA8"/>
                </a:solidFill>
                <a:latin typeface="Segoe UI"/>
              </a:rPr>
              <a:t>Resultados clave:   </a:t>
            </a:r>
            <a:r>
              <a:rPr sz="1800" b="1">
                <a:solidFill>
                  <a:srgbClr val="2DD4BF"/>
                </a:solidFill>
                <a:latin typeface="Segoe UI"/>
              </a:rPr>
              <a:t>AAD 0.2 pp</a:t>
            </a:r>
            <a:r>
              <a:rPr sz="1800" b="0">
                <a:solidFill>
                  <a:srgbClr val="949DA8"/>
                </a:solidFill>
                <a:latin typeface="Segoe UI"/>
              </a:rPr>
              <a:t>   ·   </a:t>
            </a:r>
            <a:r>
              <a:rPr sz="1800" b="1">
                <a:solidFill>
                  <a:srgbClr val="EDEAE3"/>
                </a:solidFill>
                <a:latin typeface="Segoe UI"/>
              </a:rPr>
              <a:t>α = 0 (estructural)</a:t>
            </a:r>
            <a:r>
              <a:rPr sz="1800" b="0">
                <a:solidFill>
                  <a:srgbClr val="949DA8"/>
                </a:solidFill>
                <a:latin typeface="Segoe UI"/>
              </a:rPr>
              <a:t>   ·   </a:t>
            </a:r>
            <a:r>
              <a:rPr sz="1800" b="1">
                <a:solidFill>
                  <a:srgbClr val="EDEAE3"/>
                </a:solidFill>
                <a:latin typeface="Segoe UI"/>
              </a:rPr>
              <a:t>2 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I. Planteamiento del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I. PLANTEAMIENTO DEL PROBLEMA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El modelo: proceso estado-espacio con kernel de salto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49DA8"/>
                </a:solidFill>
                <a:latin typeface="Segoe UI"/>
              </a:rPr>
              <a:t>Kernel de transición (variable latente τₜ*), en tiempo continuo: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DEAE3"/>
                </a:solidFill>
                <a:latin typeface="Segoe UI"/>
              </a:rPr>
              <a:t>Pₜ(x, A) = e⁻ᵅᵗ · δ_x(A) + (1 − e⁻ᵅᵗ) · Q(A)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49DA8"/>
                </a:solidFill>
                <a:latin typeface="Segoe UI"/>
              </a:rPr>
              <a:t>Emisión identidad (observación) — formulación propia del pipeline: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DEAE3"/>
                </a:solidFill>
                <a:latin typeface="Segoe UI"/>
              </a:rPr>
              <a:t>rₜ² = fₜ · τₜ* · εₜ ,   εₜ ~ N(0,1)   ⟹   E[rₜ²/fₜ | τₜ*] = τₜ*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9DA8"/>
                </a:solidFill>
                <a:latin typeface="Segoe UI"/>
              </a:rPr>
              <a:t>α = tasa de salto (la tesis exige α &gt; 0; H1 lo lleva al límite). Notemos: aquí τₜ* es la spot; en la tesis τ* es la integrada.</a:t>
            </a:r>
          </a:p>
        </p:txBody>
      </p:sp>
      <p:pic>
        <p:nvPicPr>
          <p:cNvPr id="9" name="Picture 8" descr="ssm_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49240"/>
            <a:ext cx="1088136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I. Planteamiento del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I. PLANTEAMIENTO DEL PROBLEMA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Linaje 1: procesos de Feller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76272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49DA8"/>
                </a:solidFill>
                <a:latin typeface="Segoe UI"/>
              </a:rPr>
              <a:t>Semigrupo del kernel de transición Pₜ: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DEAE3"/>
                </a:solidFill>
                <a:latin typeface="Segoe UI"/>
              </a:rPr>
              <a:t>Tₜ f(x) = ∫ Pₜ(x, dy) f(y) ,   f ∈ C₀(E)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DEAE3"/>
                </a:solidFill>
                <a:latin typeface="Segoe UI"/>
              </a:rPr>
              <a:t>Definición (Anzarut, Def. 3): W es un proceso de Feller si su semigrupo cumple: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DD4BF"/>
                </a:solidFill>
                <a:latin typeface="Segoe UI"/>
              </a:rPr>
              <a:t>(i)  Tₜ mapea C₀ en sí mismo, para todo t ≥ 0.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DD4BF"/>
                </a:solidFill>
                <a:latin typeface="Segoe UI"/>
              </a:rPr>
              <a:t>(ii) Tₜ f(x) → f(x) cuando t ↓ 0, para toda f ∈ C₀ y x ∈ 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DEAE3"/>
                </a:solidFill>
                <a:latin typeface="Segoe UI"/>
              </a:rPr>
              <a:t>C₀ es el espacio de funciones continuas que se anulan en el infinito. Con (i) y (ii) queda bien definido el generador Af = lim_{t↓0} (Tₜf − f)/t, que describe la evolución infinitesimal.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949DA8"/>
                </a:solidFill>
                <a:latin typeface="Segoe UI"/>
              </a:rPr>
              <a:t>Notemos que un proceso de Feller generaliza a los Lévy: incluye los procesos con incrementos independientes como caso particular, pero no requiere homogeneidad espacial — el kernel sí depende del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I. Planteamiento del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I. PLANTEAMIENTO DEL PROBLEMA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Linaje 2: procesos de Harris recurrente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0" cy="15544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49DA8"/>
                </a:solidFill>
                <a:latin typeface="Segoe UI"/>
              </a:rPr>
              <a:t>Definición (Anzarut, Def. 11): W es Harris recurrente si existe una medida σ-finita μ en (E, E)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DEAE3"/>
                </a:solidFill>
                <a:latin typeface="Segoe UI"/>
              </a:rPr>
              <a:t>tal que para todo B con μ(B) &gt; 0:   P{ ∫₀^∞ δ_{Wₜ}(B) dt = ∞ | W₀ = w } = 1,  ∀w ∈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DEAE3"/>
                </a:solidFill>
                <a:latin typeface="Segoe UI"/>
              </a:rPr>
              <a:t>Esto es: visita cualquier conjunto de medida positiva un número infinito de veces, casi seguro — más fuerte que recurrencia en promedio (Def. 10), que solo pide tiempo esperado infinito.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DEAE3"/>
                </a:solidFill>
                <a:latin typeface="Segoe UI"/>
              </a:rPr>
              <a:t>Getoor (1980): todo proceso Harris recurrente tiene medida invariante única salvo constantes. Si esa medida es finita, el proceso es positive Harris recurrent y se normaliza a probabilidad.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DD4BF"/>
                </a:solidFill>
                <a:latin typeface="Segoe UI"/>
              </a:rPr>
              <a:t>En el SF-Harris: el proceso H es positive Harris recurrent, con medida invariante única Q y reversible en tiempo respecto de Q (Anzarut, cap.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I. Planteamiento del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I. PLANTEAMIENTO DEL PROBLEMA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Retos del dato: U-Shape, saltos y microestructura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E07A6A"/>
                </a:solidFill>
                <a:latin typeface="Segoe UI"/>
              </a:rPr>
              <a:t>U-Shape intradía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La volatilidad promedio cambia hasta 3× a lo largo del día. Si no la corregimos, el modelo aprende la estacionalidad y la confunde con la dinámica de τ*.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E07A6A"/>
                </a:solidFill>
                <a:latin typeface="Segoe UI"/>
              </a:rPr>
              <a:t>Saltos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Los eventos discretos contaminan r² y sesgan la estimación de la variación continua.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E07A6A"/>
                </a:solidFill>
                <a:latin typeface="Segoe UI"/>
              </a:rPr>
              <a:t>Ruido de microestructura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El retorno de 15 minutos es una observación ruidosa de la volatilidad latente: la vemos con log(εₜ²) encima.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I. Planteamiento del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II. METODOLOGÍA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Escala log: la observación y su ruido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0" cy="15544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49DA8"/>
                </a:solidFill>
                <a:latin typeface="Segoe UI"/>
              </a:rPr>
              <a:t>Observación en escala log (formulación propia; la tesis observa vía RV):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DEAE3"/>
                </a:solidFill>
                <a:latin typeface="Segoe UI"/>
              </a:rPr>
              <a:t>Hₜ ≔ log(rₜ² / fₜ) = log(τₜ*) + log(εₜ²)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El ruido log(εₜ²) es log-χ²₁. Sus momentos: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E[log εₜ²] = −γ − ln 2 ≈ −1.2704,        Var[log εₜ²] = π²/6 ≈ 1.645.</a:t>
            </a:r>
          </a:p>
          <a:p>
            <a:pPr algn="l">
              <a:spcAft>
                <a:spcPts val="1000"/>
              </a:spcAft>
            </a:pPr>
            <a:r>
              <a:rPr sz="1800" b="0" i="1">
                <a:solidFill>
                  <a:srgbClr val="949DA8"/>
                </a:solidFill>
                <a:latin typeface="Segoe UI"/>
              </a:rPr>
              <a:t>Lo verificamos simbólicamente: ψ(1/2) + ln 2 = −1.27036…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Notemos que la media no es cero: cualquier pipeline en escala log debe corregir este sesgo. BNS (2004) entra en otra pieza: el bipower variation para detectar saltos.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II. Metodología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II. METODOLOGÍA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Transformación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DD4BF"/>
                </a:solidFill>
                <a:latin typeface="Segoe UI"/>
              </a:rPr>
              <a:t>1. Retornos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rₜ = log(Pₜ / Pₜ₋₁) sobre barras de 15 minutos.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DD4BF"/>
                </a:solidFill>
                <a:latin typeface="Segoe UI"/>
              </a:rPr>
              <a:t>2. Umbral de saltos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Jₜ = max(rₜ² − π²/4 · rₜ·rₜ₋₁, 0): primero restamos la variación continua estimada con el bipower, después estimamos 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DD4BF"/>
                </a:solidFill>
                <a:latin typeface="Segoe UI"/>
              </a:rPr>
              <a:t>3. Outliers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Removemos el x% más extremo. El x lo elige un grid: 0.08% resultó estable IS y OOS.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II. Metodología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II. METODOLOGÍA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Ajuste de periodicidad intradía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EDEAE3"/>
                </a:solidFill>
                <a:latin typeface="Segoe UI"/>
              </a:rPr>
              <a:t>Dividimos cada retorno entre f(t_i): la volatilidad promedio por intervalo del día, estimada sobre todo el train. Con r_i = v_i / f(t_i) los retornos quedan estacionarios dentro del día.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6766560" cy="2651760"/>
          </a:xfrm>
          <a:prstGeom prst="roundRect">
            <a:avLst>
              <a:gd name="adj" fmla="val 6000"/>
            </a:avLst>
          </a:prstGeom>
          <a:solidFill>
            <a:srgbClr val="151A21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949DA8"/>
                </a:solidFill>
                <a:latin typeface="Segoe UI"/>
              </a:rPr>
              <a:t>[INSERTAR: f_t empírica — perfil intradía promedio del train]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3566160"/>
            <a:ext cx="3931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Sin este paso, el modelo aprende la forma de U y la confunde con la dinámica de τ*.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9DA8"/>
                </a:solidFill>
                <a:latin typeface="Segoe UI"/>
              </a:rPr>
              <a:t>El perfil se estima una sola vez sobre train y se congela: al test no entra.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II. Metodología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II. METODOLOGÍA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Selección de barras: dollar bars vs calendar bars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Alternativa a las barras de calendario: buckets de volumen con el día anterior como referencia (calendar ≈ 26 barras/día). Corrimos un grid 3D: barras/día × % de limpieza → AAD.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6766560" cy="2926080"/>
          </a:xfrm>
          <a:prstGeom prst="roundRect">
            <a:avLst>
              <a:gd name="adj" fmla="val 6000"/>
            </a:avLst>
          </a:prstGeom>
          <a:solidFill>
            <a:srgbClr val="151A21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949DA8"/>
                </a:solidFill>
                <a:latin typeface="Segoe UI"/>
              </a:rPr>
              <a:t>[INSERTAR: superficie/grid AAD — bpd × %removal, IS y OOS]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320040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DEAE3"/>
                </a:solidFill>
                <a:latin typeface="Segoe UI"/>
              </a:rPr>
              <a:t>67 modelos con AAD &lt; 0.8 pp IS y OOS: 51 de calendar, 16 de dollar.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La meseta óptima: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DEAE3"/>
                </a:solidFill>
                <a:latin typeface="Segoe UI"/>
              </a:rPr>
              <a:t>0.08% cleaning × {8, 13, 26, 78} barras/día. Es la franja donde IS y OOS se ven más parecidas.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II. Metodología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II. METODOLOGÍA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Inferencia: posterior de Gibbs vs estimadores puntuales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Los estimadores puntuales del GIG (MLE/EM/NDNJ) son casi no identificables: la verosimilitud es plana en λ cuando κ &gt; 10, así que el estimador cae donde quiera. El posterior promediado con Gibbs sí llega al E_Q correcto.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DD4BF"/>
                </a:solidFill>
                <a:latin typeface="Segoe UI"/>
              </a:rPr>
              <a:t>Q empírico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La distribución empírica de la variación, ya limpia de saltos y outliers.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9319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1148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DD4BF"/>
                </a:solidFill>
                <a:latin typeface="Segoe UI"/>
              </a:rPr>
              <a:t>Denoising Gibbs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El posterior le quita el ruido de emisión a cada observación.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41148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DD4BF"/>
                </a:solidFill>
                <a:latin typeface="Segoe UI"/>
              </a:rPr>
              <a:t>Parsimonia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Cualquier pieza extra (saltos, memoria, capas) tiene que justificarse con evidencia.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II. Metodología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II. METODOLOGÍA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Cuatro caminos para inferir los parámetros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E07A6A"/>
                </a:solidFill>
                <a:latin typeface="Segoe UI"/>
              </a:rPr>
              <a:t>NDNJ   </a:t>
            </a:r>
            <a:r>
              <a:rPr sz="1300" i="1">
                <a:solidFill>
                  <a:srgbClr val="949DA8"/>
                </a:solidFill>
                <a:latin typeface="Segoe UI"/>
              </a:rPr>
              <a:t>· Punto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DEAE3"/>
                </a:solidFill>
                <a:latin typeface="Segoe UI"/>
              </a:rPr>
              <a:t>"No difference, no jump": asume que observación distinta implica salto. En la Tabla III de la tesis es el mejor método; nuestra replicación encontró lo contrario.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E07A6A"/>
                </a:solidFill>
                <a:latin typeface="Segoe UI"/>
              </a:rPr>
              <a:t>EM   </a:t>
            </a:r>
            <a:r>
              <a:rPr sz="1300" i="1">
                <a:solidFill>
                  <a:srgbClr val="949DA8"/>
                </a:solidFill>
                <a:latin typeface="Segoe UI"/>
              </a:rPr>
              <a:t>· Punto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DEAE3"/>
                </a:solidFill>
                <a:latin typeface="Segoe UI"/>
              </a:rPr>
              <a:t>Alternación esperanza-maximización. Nuestra réplica: E_Q sale hasta 130× por encima del verdadero, contra la Tabla III.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8620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Gibbs-a   </a:t>
            </a:r>
            <a:r>
              <a:rPr sz="1300" i="1">
                <a:solidFill>
                  <a:srgbClr val="949DA8"/>
                </a:solidFill>
                <a:latin typeface="Segoe UI"/>
              </a:rPr>
              <a:t>· Posterior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DEAE3"/>
                </a:solidFill>
                <a:latin typeface="Segoe UI"/>
              </a:rPr>
              <a:t>Muestreo del posterior con ARMS para la condicional de α. En vez de fijar un punto, promedia sobre la incertidumbre.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Gibbs-b   </a:t>
            </a:r>
            <a:r>
              <a:rPr sz="1300" i="1">
                <a:solidFill>
                  <a:srgbClr val="949DA8"/>
                </a:solidFill>
                <a:latin typeface="Segoe UI"/>
              </a:rPr>
              <a:t>· Posterior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DEAE3"/>
                </a:solidFill>
                <a:latin typeface="Segoe UI"/>
              </a:rPr>
              <a:t>Variables artificiales: α|j ~ Gamma(m+1, jm+c). Las dos convergen: E_Q cae en el rango correcto (0.005–0.44).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49DA8"/>
                </a:solidFill>
                <a:latin typeface="Segoe UI"/>
              </a:rPr>
              <a:t>La Tabla III de la tesis reporta a NDNJ como el mejor método; nuestra replicación encontró lo contrario: los estimadores puntuales del GIG son casi no identificables (verosimilitud plana en λ cuando κ &gt; 10). El promediado del posterior (Gibbs a/b) es el único que sale consistente. La tesis usa ARMS + priors explícitos (π(α) = Exp(c)); nosotros MH + priors planos: mismo posterior, distinta eficiencia.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II. Metodología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07A6A"/>
                </a:solidFill>
                <a:latin typeface="Segoe UI"/>
              </a:rPr>
              <a:t>III. EVALUACIÓN DE HIPÓTESIS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Hipótesis a evaluar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DEAE3"/>
                </a:solidFill>
                <a:latin typeface="Segoe UI"/>
              </a:rPr>
              <a:t>Cada componente del modelo se somete a su propia prueba de hipótesis: si las evidencias no lo justifican, se 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0156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E07A6A"/>
                </a:solidFill>
                <a:latin typeface="Segoe UI"/>
              </a:rPr>
              <a:t>H1 — Kernel de salto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¿Aporta algo α ≠ 0? → 8 seeds × 5 valores de P(Stay)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9768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740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E07A6A"/>
                </a:solidFill>
                <a:latin typeface="Segoe UI"/>
              </a:rPr>
              <a:t>H2 — Memoria temporal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¿P(Stay) = 0.387 supera al remuestreo iid de Q?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1324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E07A6A"/>
                </a:solidFill>
                <a:latin typeface="Segoe UI"/>
              </a:rPr>
              <a:t>H3 — Capa diaria GIG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DEAE3"/>
                </a:solidFill>
                <a:latin typeface="Segoe UI"/>
              </a:rPr>
              <a:t>¿El modelo GIG-Harris SV de la tesis (o nuestra versión lognormal-GIG) preserva la ventaja en retornos diarios?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III. Evaluación de hipótesis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07A6A"/>
                </a:solidFill>
                <a:latin typeface="Segoe UI"/>
              </a:rPr>
              <a:t>III. EVALUACIÓN DE HIPÓTESIS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Resultado H1: α = 0 es una consecuencia estructural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Ningún valor de P(Stay) mejoró la cobertura (8 seeds × 5 valores). Y no podía: el kernel con probabilidad de quedarse p y remuestreo de Q tiene a Q como distribución invariante, para cualquier 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DD4BF"/>
                </a:solidFill>
                <a:latin typeface="Segoe UI"/>
              </a:rPr>
              <a:t>p·E[Q] + (1−p)·E[Q] = E[Q]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P(Stay) solo modula la autocorrelación de la latente, nunca su marginal. El AAD compara marginales.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DEAE3"/>
                </a:solidFill>
                <a:latin typeface="Segoe UI"/>
              </a:rPr>
              <a:t>Así que el kernel de salto se reduce a remuestrear Q cada 15 minutos.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III. Evaluación de hipótesis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07A6A"/>
                </a:solidFill>
                <a:latin typeface="Segoe UI"/>
              </a:rPr>
              <a:t>III. EVALUACIÓN DE HIPÓTESIS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Resultado H2: la memoria temporal no aporta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p_stay = 0 (iid-Q) vs p_stay = 0.387 (fitted) — calendar 15-min / 0.08%: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6766560" cy="3200400"/>
          </a:xfrm>
          <a:prstGeom prst="roundRect">
            <a:avLst>
              <a:gd name="adj" fmla="val 6000"/>
            </a:avLst>
          </a:prstGeom>
          <a:solidFill>
            <a:srgbClr val="151A21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949DA8"/>
                </a:solidFill>
                <a:latin typeface="Segoe UI"/>
              </a:rPr>
              <a:t>[INSERTAR: comparación de cobertura/AAD — p_stay = 0 vs 0.387]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83464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DEAE3"/>
                </a:solidFill>
                <a:latin typeface="Segoe UI"/>
              </a:rPr>
              <a:t>Las dos salen indistinguibles en el AAD.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9DA8"/>
                </a:solidFill>
                <a:latin typeface="Segoe UI"/>
              </a:rPr>
              <a:t>De hecho tenía que salir así: el fitted hereda la invariancia y su marginal es Q por construcción. La única diferencia posible es la autocorrelación, y esa no mejora la cobertura.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III. Evaluación de hipótesis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07A6A"/>
                </a:solidFill>
                <a:latin typeface="Segoe UI"/>
              </a:rPr>
              <a:t>III. EVALUACIÓN DE HIPÓTESIS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Resultado H3: en retornos diarios, gana lo estándar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E0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DEAE3"/>
                </a:solidFill>
                <a:latin typeface="Segoe UI"/>
              </a:rPr>
              <a:t>Al agregar a retornos diarios se pierde la ventaja del Q empírico: la meseta intradía desaparece con la agregación y el problema vuelve a ser el de la literatura. El GIG-Harris SV de la tesis (Yₜ = µₜ + βτₜ* + B_{τₜ*}, Q-GIG, con memoria por superposición) y nuestra versión lognormal-GIG no rescataron el caso diario.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DD4BF"/>
                </a:solidFill>
                <a:latin typeface="Segoe UI"/>
              </a:rPr>
              <a:t>El modelo es intradía. Su valor está en el spot, no en el horizonte diario.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III. Evaluación de hipótesis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III. EVALUACIÓN DE HIPÓTESIS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El modelo resultante: dos componentes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DEAE3"/>
                </a:solidFill>
                <a:latin typeface="Segoe UI"/>
              </a:rPr>
              <a:t>De los seis componentes que propusimos, las pruebas dejan en pie dos. Con esos dos el modelo da su mejor resultado: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DD4BF"/>
                </a:solidFill>
                <a:latin typeface="Segoe UI"/>
              </a:rPr>
              <a:t>1 · Q empírico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La variación cuadrática empírica, limpia de saltos y outliers, congelada del train.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926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DD4BF"/>
                </a:solidFill>
                <a:latin typeface="Segoe UI"/>
              </a:rPr>
              <a:t>2 · Denoising de Gibbs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DEAE3"/>
                </a:solidFill>
                <a:latin typeface="Segoe UI"/>
              </a:rPr>
              <a:t>El posterior le quita el ruido de emisión a cada observación, sin supuestos paramétricos sobre 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0235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Segoe UI"/>
              </a:rPr>
              <a:t>0.2 pp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49DA8"/>
                </a:solidFill>
                <a:latin typeface="Segoe UI"/>
              </a:rPr>
              <a:t>SF-Harris esencial (dollar bars)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93776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510235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DEAE3"/>
                </a:solidFill>
                <a:latin typeface="Segoe UI"/>
              </a:rPr>
              <a:t>0.8 pp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49DA8"/>
                </a:solidFill>
                <a:latin typeface="Segoe UI"/>
              </a:rPr>
              <a:t>Anzarut et 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93776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181E26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0235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07A6A"/>
                </a:solidFill>
                <a:latin typeface="Segoe UI"/>
              </a:rPr>
              <a:t>3.4 pp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49DA8"/>
                </a:solidFill>
                <a:latin typeface="Segoe UI"/>
              </a:rPr>
              <a:t>GARCH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III. Evaluación de hipótesis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III. EVALUACIÓN DE HIPÓTESIS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EAE3"/>
                </a:solidFill>
                <a:latin typeface="Segoe UI"/>
              </a:rP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EDEAE3"/>
                </a:solidFill>
                <a:latin typeface="Segoe UI"/>
              </a:rPr>
              <a:t>Las pruebas de hipótesis dejaron el modelo en dos componentes: la variación cuadrática empírica Q y el denoising del posterior de Gibbs.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EDEAE3"/>
                </a:solidFill>
                <a:latin typeface="Segoe UI"/>
              </a:rPr>
              <a:t>Los demás componentes no aportan capacidad explicativa sobre la volatilidad spot. Quitarlos no fue una concesión del método: fue su resultado.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DD4BF"/>
                </a:solidFill>
                <a:latin typeface="Segoe UI"/>
              </a:rPr>
              <a:t>Con ese modelo, el AAD es de 0.2 puntos porcentuales, contra 0.8 de Anzarut et al. y 3.4 de GARCH.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III. Evaluación de hipótesis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6000" b="1" i="0">
                <a:solidFill>
                  <a:srgbClr val="EDEAE3"/>
                </a:solidFill>
                <a:latin typeface="Segoe UI"/>
              </a:rPr>
              <a:t>Gracias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DEAE3"/>
                </a:solidFill>
                <a:latin typeface="Segoe UI"/>
              </a:rPr>
              <a:t>Angel Vences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9DA8"/>
                </a:solidFill>
                <a:latin typeface="Segoe UI"/>
              </a:rPr>
              <a:t>Facultad de Ciencias, UNAM · angelvences@ciencias.unam.mx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9DA8"/>
                </a:solidFill>
                <a:latin typeface="Segoe UI"/>
              </a:rPr>
              <a:t>SF-Harris ·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949DA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